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I'm presenting the SEC EDGAR Analyst Agent, an enterprise-grade financial reasoning engine built on Google Cloud Vertex AI and the Agent Development Kit (ADK). This project transforms manual SEC filing analysis into a 100% mathematically precise, grounded agentic solution.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on my background: I'm a Forward Deployed Engineer here at Google Cloud, with prior experience at Palantir and Scale AI. I hold a Computer Science degree from Michigan and an MBA from Chicago Booth. Let's dive straight into the business problem.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agenda for today. We'll start with the baseline manual problem in financial analysis, walk through a live user journey and demo, dive deep into each architectural layer with explicit trade-offs, review our expanded evaluation harness, and conclude with TCO and ROI.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discussing AI metrics, let's examine the baseline business reality. Senior financial analysts spend 2.5 hours reading 300-page SEC 10-Ks and manually copy-pasting numbers into spreadsheets. This wastes 3,000 hours and $270,000 annually per team. Worse, standard LLMs cannot solve this off-the-shelf because probabilistic math introduces unacceptable hallucinations.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operational transformation. In the legacy state, an analyst manually opens EDGAR, copies metrics into Excel, and writes memos over 2.5 hours. In our grounded agentic state, the analyst types a natural language query, receives deterministic math and grounded citations in under 5 minutes, verifies source excerpts split-pane, and approves export.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system is engineered against four non-negotiable SLAs: 100% math accuracy, 92%+ grounded precision, sub-3.0s latency, and 100% security compliance. We enforce these using sandboxed Python math, Vertex AI Hybrid Search, and Model Armor guardrails.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product interface. The analyst asks a question, and the agent responds with a grounded narrative and a dynamic A2UI variance table. When the analyst clicks any inline citation, the right-hand split-pane immediately navigates to the exact 10-K filing excerpt stored in GCS.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stands on four technical pillars: 1) ADK Supervisor for agentic orchestration, 2) Decoupled Python calculation engine for math, 3) Hybrid RAG combining BigQuery SQL and Vertex AI Search, and 4) Model Armor and VPC-SC for security.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end-to-end diagram illustrates the full execution path from the user prompt down to GCP storage layers. Model Armor inspects prompts at ingress before handing off to the ADK RootOrchestrator, which routes tasks to specialized tools and sub-agents.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Layer 1, we made a key architectural decision: instead of returning raw markdown table text from the LLM, we engineered the A2UI Protocol. The model outputs structured JSON specifications, which React renders into interactive financial tables and charts.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Layer 2, we chose the Google ADK Supervisor Pattern over a monolithic prompt. ADK's modular structure allows the RootOrchestrator to dynamically route metric queries to SQL, math to Python, and text searches to our Search Sub-Agent.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retrieval architecture uses a Dual-Path engine. We do NOT rely on vector search alone. Quantitative queries hit BigQuery SQL for exact numbers, while qualitative risk queries hit Vertex AI Hybrid Search, merging dense vectors with BM25 keywords.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finance, 99% math accuracy is a failing grade. We decoupled all math from the LLM into a sandboxed Python solver. The model extracts parameters, but Python executes the calculations, guaranteeing 100% arithmetic accuracy.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5 provides enterprise trust. We deploy inside a VPC Service Controls perimeter and integrate Model Armor callbacks on both ingress and egress. Adversarial jailbreaks are blocked before reaching Gemini.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expanded our evaluation framework into two distinct tracks: Track 1 runs deterministic code assertions to verify math, while Track 2 uses Gemini 2.5 Flash as an LLM-as-a-Judge to evaluate citation precision and trajectory quality.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ADK Evaluation Harness runs automated benchmarks against a golden dataset. In our latest run of 22 comprehensive test cases, we achieved 100% math accuracy, 1.0 faithfulness, 0% execution errors, and an average latency of 1.31 seconds.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observability, our BigQuery Telemetry Sink streams execution metrics asynchronously with zero user latency impact. Any edge cases detected feed into our Refinement Flywheel, where rules are permanently locked into the system constitution.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tokenomics. Vertex AI Context Caching delivers an exact 75% input token discount on Gemini 2.5 Pro. Combined with our 1.31s execution latency, this reduces annual operating cost from $270,000 in manual labor down to $10,000 in AI cost.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Regarding scalability and security: our system is deployed on Cloud Run via 100% Terraform IaC with min-instances set to zero cold-start latency. BigQuery is partitioned for concurrency, and Vertex AI guarantees zero data exfiltration or model training on customer prompts.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defense matrix summarizes our core architectural choices. In every domain—orchestration, math, retrieval, security, performance, and evaluation—we selected deterministic, modular, and secure approaches over brittle monolithic alternatives.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our SEC EDGAR Analyst Agent delivers a 26x net ROI, $260,000 in net annual savings, and a payback period of under 2 weeks. More importantly, it reclaims 2,900 hours of senior analyst capacity while guaranteeing zero mathematical hallucinations. Thank you, and I am now ready for panel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011680"/>
            <a:ext cx="10362895" cy="3200400"/>
          </a:xfrm>
          <a:prstGeom prst="rect">
            <a:avLst/>
          </a:prstGeom>
          <a:noFill/>
        </p:spPr>
        <p:txBody>
          <a:bodyPr wrap="square">
            <a:spAutoFit/>
          </a:bodyPr>
          <a:lstStyle/>
          <a:p>
            <a:pPr>
              <a:spcAft>
                <a:spcPts val="2000"/>
              </a:spcAft>
              <a:defRPr sz="1100" b="1">
                <a:solidFill>
                  <a:srgbClr val="94A3B8"/>
                </a:solidFill>
              </a:defRPr>
            </a:pPr>
            <a:r>
              <a:t>CONFIDENTIAL + PROPRIETARY | GOOGLE CLOUD GTM FORWARD DEPLOYED ENGINEERING</a:t>
            </a:r>
          </a:p>
          <a:p>
            <a:pPr>
              <a:spcAft>
                <a:spcPts val="1000"/>
              </a:spcAft>
              <a:defRPr sz="4400" b="1">
                <a:solidFill>
                  <a:srgbClr val="FFFFFF"/>
                </a:solidFill>
              </a:defRPr>
            </a:pPr>
            <a:r>
              <a:t>SEC EDGAR Analyst Agent</a:t>
            </a:r>
          </a:p>
          <a:p>
            <a:pPr>
              <a:spcAft>
                <a:spcPts val="4000"/>
              </a:spcAft>
              <a:defRPr sz="2200">
                <a:solidFill>
                  <a:srgbClr val="4285F4"/>
                </a:solidFill>
              </a:defRPr>
            </a:pPr>
            <a:r>
              <a:t>Grounded Financial Intelligence &amp; Automated Reasoning Engine on Google Cloud</a:t>
            </a:r>
          </a:p>
          <a:p>
            <a:pPr>
              <a:defRPr sz="1400">
                <a:solidFill>
                  <a:srgbClr val="94A3B8"/>
                </a:solidFill>
              </a:defRPr>
            </a:pPr>
            <a:r>
              <a:t>Charles Wang  |  Forward Deployed Engineer</a:t>
            </a:r>
          </a:p>
        </p:txBody>
      </p:sp>
      <p:sp>
        <p:nvSpPr>
          <p:cNvPr id="3" name="Rectangle 2"/>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4285F4"/>
                </a:solidFill>
              </a:defRPr>
            </a:pPr>
            <a:r>
              <a:t>CONFIDENTIAL + PROPRIETARY | GOOGLE CLOUD</a:t>
            </a:r>
          </a:p>
          <a:p>
            <a:pPr>
              <a:spcAft>
                <a:spcPts val="200"/>
              </a:spcAft>
              <a:defRPr sz="2400" b="1">
                <a:solidFill>
                  <a:srgbClr val="FFFFFF"/>
                </a:solidFill>
              </a:defRPr>
            </a:pPr>
            <a:r>
              <a:t>Introduction</a:t>
            </a:r>
          </a:p>
          <a:p>
            <a:pPr>
              <a:defRPr sz="1300">
                <a:solidFill>
                  <a:srgbClr val="4285F4"/>
                </a:solidFill>
              </a:defRPr>
            </a:pPr>
            <a:r>
              <a:t>Engineering Origins &amp; Background</a:t>
            </a:r>
          </a:p>
        </p:txBody>
      </p:sp>
      <p:sp>
        <p:nvSpPr>
          <p:cNvPr id="3" name="Rounded Rectangle 2"/>
          <p:cNvSpPr/>
          <p:nvPr/>
        </p:nvSpPr>
        <p:spPr>
          <a:xfrm>
            <a:off x="7315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2926080" cy="457200"/>
          </a:xfrm>
          <a:prstGeom prst="rect">
            <a:avLst/>
          </a:prstGeom>
          <a:noFill/>
        </p:spPr>
        <p:txBody>
          <a:bodyPr wrap="square">
            <a:spAutoFit/>
          </a:bodyPr>
          <a:lstStyle/>
          <a:p>
            <a:pPr>
              <a:defRPr sz="1600" b="1">
                <a:solidFill>
                  <a:srgbClr val="FFFFFF"/>
                </a:solidFill>
              </a:defRPr>
            </a:pPr>
            <a:r>
              <a:t>Charles Wang</a:t>
            </a:r>
          </a:p>
        </p:txBody>
      </p:sp>
      <p:sp>
        <p:nvSpPr>
          <p:cNvPr id="5" name="TextBox 4"/>
          <p:cNvSpPr txBox="1"/>
          <p:nvPr/>
        </p:nvSpPr>
        <p:spPr>
          <a:xfrm>
            <a:off x="914400" y="2286000"/>
            <a:ext cx="2926080" cy="3474720"/>
          </a:xfrm>
          <a:prstGeom prst="rect">
            <a:avLst/>
          </a:prstGeom>
          <a:noFill/>
        </p:spPr>
        <p:txBody>
          <a:bodyPr wrap="square" lIns="0" tIns="0" rIns="0" bIns="0">
            <a:spAutoFit/>
          </a:bodyPr>
          <a:lstStyle/>
          <a:p>
            <a:pPr>
              <a:spcAft>
                <a:spcPts val="800"/>
              </a:spcAft>
              <a:defRPr sz="1200">
                <a:solidFill>
                  <a:srgbClr val="FFFFFF"/>
                </a:solidFill>
              </a:defRPr>
            </a:pPr>
            <a:r>
              <a:t>• Forward Deployed Engineer at Google Cloud</a:t>
            </a:r>
          </a:p>
          <a:p>
            <a:pPr>
              <a:spcAft>
                <a:spcPts val="800"/>
              </a:spcAft>
              <a:defRPr sz="1200">
                <a:solidFill>
                  <a:srgbClr val="FFFFFF"/>
                </a:solidFill>
              </a:defRPr>
            </a:pPr>
            <a:r>
              <a:t>• Prior: FDE at Palantir &amp; Strategic Projects Lead at Scale AI</a:t>
            </a:r>
          </a:p>
          <a:p>
            <a:pPr>
              <a:spcAft>
                <a:spcPts val="800"/>
              </a:spcAft>
              <a:defRPr sz="1200">
                <a:solidFill>
                  <a:srgbClr val="FFFFFF"/>
                </a:solidFill>
              </a:defRPr>
            </a:pPr>
            <a:r>
              <a:t>• Focused on Enterprise AI, RAG Systems, &amp; Agent Architecture</a:t>
            </a:r>
          </a:p>
        </p:txBody>
      </p:sp>
      <p:sp>
        <p:nvSpPr>
          <p:cNvPr id="6" name="Rounded Rectangle 5"/>
          <p:cNvSpPr/>
          <p:nvPr/>
        </p:nvSpPr>
        <p:spPr>
          <a:xfrm>
            <a:off x="4297680" y="1645920"/>
            <a:ext cx="347472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60" y="1828800"/>
            <a:ext cx="3108960" cy="457200"/>
          </a:xfrm>
          <a:prstGeom prst="rect">
            <a:avLst/>
          </a:prstGeom>
          <a:noFill/>
        </p:spPr>
        <p:txBody>
          <a:bodyPr wrap="square">
            <a:spAutoFit/>
          </a:bodyPr>
          <a:lstStyle/>
          <a:p>
            <a:pPr>
              <a:defRPr sz="1600" b="1">
                <a:solidFill>
                  <a:srgbClr val="FFFFFF"/>
                </a:solidFill>
              </a:defRPr>
            </a:pPr>
            <a:r>
              <a:t>Education &amp; Technical Focus</a:t>
            </a:r>
          </a:p>
        </p:txBody>
      </p:sp>
      <p:sp>
        <p:nvSpPr>
          <p:cNvPr id="8" name="TextBox 7"/>
          <p:cNvSpPr txBox="1"/>
          <p:nvPr/>
        </p:nvSpPr>
        <p:spPr>
          <a:xfrm>
            <a:off x="4480560" y="2286000"/>
            <a:ext cx="3108960" cy="3474720"/>
          </a:xfrm>
          <a:prstGeom prst="rect">
            <a:avLst/>
          </a:prstGeom>
          <a:noFill/>
        </p:spPr>
        <p:txBody>
          <a:bodyPr wrap="square" lIns="0" tIns="0" rIns="0" bIns="0">
            <a:spAutoFit/>
          </a:bodyPr>
          <a:lstStyle/>
          <a:p>
            <a:pPr>
              <a:spcAft>
                <a:spcPts val="800"/>
              </a:spcAft>
              <a:defRPr sz="1200">
                <a:solidFill>
                  <a:srgbClr val="FFFFFF"/>
                </a:solidFill>
              </a:defRPr>
            </a:pPr>
            <a:r>
              <a:t>• B.S. in Computer Science Engineering — University of Michigan</a:t>
            </a:r>
          </a:p>
          <a:p>
            <a:pPr>
              <a:spcAft>
                <a:spcPts val="800"/>
              </a:spcAft>
              <a:defRPr sz="1200">
                <a:solidFill>
                  <a:srgbClr val="FFFFFF"/>
                </a:solidFill>
              </a:defRPr>
            </a:pPr>
            <a:r>
              <a:t>• MBA — University of Chicago Booth School of Business</a:t>
            </a:r>
          </a:p>
          <a:p>
            <a:pPr>
              <a:spcAft>
                <a:spcPts val="800"/>
              </a:spcAft>
              <a:defRPr sz="1200">
                <a:solidFill>
                  <a:srgbClr val="FFFFFF"/>
                </a:solidFill>
              </a:defRPr>
            </a:pPr>
            <a:r>
              <a:t>• Specialization: Financial Modeling &amp; AI System Design</a:t>
            </a:r>
          </a:p>
        </p:txBody>
      </p:sp>
      <p:sp>
        <p:nvSpPr>
          <p:cNvPr id="9" name="Rounded Rectangle 8"/>
          <p:cNvSpPr/>
          <p:nvPr/>
        </p:nvSpPr>
        <p:spPr>
          <a:xfrm>
            <a:off x="8046720" y="1645920"/>
            <a:ext cx="33832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3017520" cy="457200"/>
          </a:xfrm>
          <a:prstGeom prst="rect">
            <a:avLst/>
          </a:prstGeom>
          <a:noFill/>
        </p:spPr>
        <p:txBody>
          <a:bodyPr wrap="square">
            <a:spAutoFit/>
          </a:bodyPr>
          <a:lstStyle/>
          <a:p>
            <a:pPr>
              <a:defRPr sz="1600" b="1">
                <a:solidFill>
                  <a:srgbClr val="FFFFFF"/>
                </a:solidFill>
              </a:defRPr>
            </a:pPr>
            <a:r>
              <a:t>Capstone Scope</a:t>
            </a:r>
          </a:p>
        </p:txBody>
      </p:sp>
      <p:sp>
        <p:nvSpPr>
          <p:cNvPr id="11" name="TextBox 10"/>
          <p:cNvSpPr txBox="1"/>
          <p:nvPr/>
        </p:nvSpPr>
        <p:spPr>
          <a:xfrm>
            <a:off x="8229600" y="2286000"/>
            <a:ext cx="3017520" cy="3474720"/>
          </a:xfrm>
          <a:prstGeom prst="rect">
            <a:avLst/>
          </a:prstGeom>
          <a:noFill/>
        </p:spPr>
        <p:txBody>
          <a:bodyPr wrap="square" lIns="0" tIns="0" rIns="0" bIns="0">
            <a:spAutoFit/>
          </a:bodyPr>
          <a:lstStyle/>
          <a:p>
            <a:pPr>
              <a:spcAft>
                <a:spcPts val="800"/>
              </a:spcAft>
              <a:defRPr sz="1200">
                <a:solidFill>
                  <a:srgbClr val="FFFFFF"/>
                </a:solidFill>
              </a:defRPr>
            </a:pPr>
            <a:r>
              <a:t>• Domain: Financial Services Industry (FSI)</a:t>
            </a:r>
          </a:p>
          <a:p>
            <a:pPr>
              <a:spcAft>
                <a:spcPts val="800"/>
              </a:spcAft>
              <a:defRPr sz="1200">
                <a:solidFill>
                  <a:srgbClr val="FFFFFF"/>
                </a:solidFill>
              </a:defRPr>
            </a:pPr>
            <a:r>
              <a:t>• Goal: Automate multi-statement SEC 10-K extraction &amp; variance analysis</a:t>
            </a:r>
          </a:p>
          <a:p>
            <a:pPr>
              <a:spcAft>
                <a:spcPts val="800"/>
              </a:spcAft>
              <a:defRPr sz="1200">
                <a:solidFill>
                  <a:srgbClr val="FFFFFF"/>
                </a:solidFill>
              </a:defRPr>
            </a:pPr>
            <a:r>
              <a:t>• Focus: Zero-hallucination math &amp; auditability</a:t>
            </a:r>
          </a:p>
        </p:txBody>
      </p:sp>
      <p:sp>
        <p:nvSpPr>
          <p:cNvPr id="12" name="Rectangle 11"/>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4285F4"/>
                </a:solidFill>
              </a:defRPr>
            </a:pPr>
            <a:r>
              <a:t>CONFIDENTIAL + PROPRIETARY | GOOGLE CLOUD</a:t>
            </a:r>
          </a:p>
          <a:p>
            <a:pPr>
              <a:spcAft>
                <a:spcPts val="200"/>
              </a:spcAft>
              <a:defRPr sz="2400" b="1">
                <a:solidFill>
                  <a:srgbClr val="FFFFFF"/>
                </a:solidFill>
              </a:defRPr>
            </a:pPr>
            <a:r>
              <a:t>Agenda &amp; Story Map</a:t>
            </a:r>
          </a:p>
          <a:p>
            <a:pPr>
              <a:defRPr sz="1300">
                <a:solidFill>
                  <a:srgbClr val="4285F4"/>
                </a:solidFill>
              </a:defRPr>
            </a:pPr>
            <a:r>
              <a:t>Roadmap of Presentation Sections</a:t>
            </a:r>
          </a:p>
        </p:txBody>
      </p:sp>
      <p:sp>
        <p:nvSpPr>
          <p:cNvPr id="3" name="Rounded Rectangle 2"/>
          <p:cNvSpPr/>
          <p:nvPr/>
        </p:nvSpPr>
        <p:spPr>
          <a:xfrm>
            <a:off x="731520" y="1645920"/>
            <a:ext cx="10728655" cy="777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10332720" cy="502920"/>
          </a:xfrm>
          <a:prstGeom prst="rect">
            <a:avLst/>
          </a:prstGeom>
          <a:noFill/>
        </p:spPr>
        <p:txBody>
          <a:bodyPr wrap="none">
            <a:spAutoFit/>
          </a:bodyPr>
          <a:lstStyle/>
          <a:p>
            <a:pPr>
              <a:defRPr sz="1400" b="1">
                <a:solidFill>
                  <a:srgbClr val="FFFFFF"/>
                </a:solidFill>
              </a:defRPr>
            </a:pPr>
            <a:r>
              <a:t>01   |   Business Problem &amp; User Journey  —  Manual 10-K pain &amp; workflow transformation</a:t>
            </a:r>
          </a:p>
        </p:txBody>
      </p:sp>
      <p:sp>
        <p:nvSpPr>
          <p:cNvPr id="5" name="Rounded Rectangle 4"/>
          <p:cNvSpPr/>
          <p:nvPr/>
        </p:nvSpPr>
        <p:spPr>
          <a:xfrm>
            <a:off x="731520" y="2560320"/>
            <a:ext cx="10728655" cy="777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97479"/>
            <a:ext cx="10332720" cy="502920"/>
          </a:xfrm>
          <a:prstGeom prst="rect">
            <a:avLst/>
          </a:prstGeom>
          <a:noFill/>
        </p:spPr>
        <p:txBody>
          <a:bodyPr wrap="none">
            <a:spAutoFit/>
          </a:bodyPr>
          <a:lstStyle/>
          <a:p>
            <a:pPr>
              <a:defRPr sz="1400" b="1">
                <a:solidFill>
                  <a:srgbClr val="FFFFFF"/>
                </a:solidFill>
              </a:defRPr>
            </a:pPr>
            <a:r>
              <a:t>02   |   Live Product Demo &amp; Solution Overview  —  Split-pane UI &amp; 4 Technical Pillars</a:t>
            </a:r>
          </a:p>
        </p:txBody>
      </p:sp>
      <p:sp>
        <p:nvSpPr>
          <p:cNvPr id="7" name="Rounded Rectangle 6"/>
          <p:cNvSpPr/>
          <p:nvPr/>
        </p:nvSpPr>
        <p:spPr>
          <a:xfrm>
            <a:off x="731520" y="3474720"/>
            <a:ext cx="10728655" cy="777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611879"/>
            <a:ext cx="10332720" cy="502920"/>
          </a:xfrm>
          <a:prstGeom prst="rect">
            <a:avLst/>
          </a:prstGeom>
          <a:noFill/>
        </p:spPr>
        <p:txBody>
          <a:bodyPr wrap="none">
            <a:spAutoFit/>
          </a:bodyPr>
          <a:lstStyle/>
          <a:p>
            <a:pPr>
              <a:defRPr sz="1400" b="1">
                <a:solidFill>
                  <a:srgbClr val="FFFFFF"/>
                </a:solidFill>
              </a:defRPr>
            </a:pPr>
            <a:r>
              <a:t>03   |   Architecture Deep Dives &amp; Trade-Offs  —  ADK Supervisor, Hybrid RAG, &amp; Decoupled Math</a:t>
            </a:r>
          </a:p>
        </p:txBody>
      </p:sp>
      <p:sp>
        <p:nvSpPr>
          <p:cNvPr id="9" name="Rounded Rectangle 8"/>
          <p:cNvSpPr/>
          <p:nvPr/>
        </p:nvSpPr>
        <p:spPr>
          <a:xfrm>
            <a:off x="731520" y="4389120"/>
            <a:ext cx="10728655" cy="777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526280"/>
            <a:ext cx="10332720" cy="502920"/>
          </a:xfrm>
          <a:prstGeom prst="rect">
            <a:avLst/>
          </a:prstGeom>
          <a:noFill/>
        </p:spPr>
        <p:txBody>
          <a:bodyPr wrap="none">
            <a:spAutoFit/>
          </a:bodyPr>
          <a:lstStyle/>
          <a:p>
            <a:pPr>
              <a:defRPr sz="1400" b="1">
                <a:solidFill>
                  <a:srgbClr val="FFFFFF"/>
                </a:solidFill>
              </a:defRPr>
            </a:pPr>
            <a:r>
              <a:t>04   |   Expanded Evaluation Framework  —  Math Assertions, LLM-as-a-Judge, &amp; ADK Eval Harness</a:t>
            </a:r>
          </a:p>
        </p:txBody>
      </p:sp>
      <p:sp>
        <p:nvSpPr>
          <p:cNvPr id="11" name="Rounded Rectangle 10"/>
          <p:cNvSpPr/>
          <p:nvPr/>
        </p:nvSpPr>
        <p:spPr>
          <a:xfrm>
            <a:off x="731520" y="5303520"/>
            <a:ext cx="10728655" cy="777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440680"/>
            <a:ext cx="10332720" cy="502920"/>
          </a:xfrm>
          <a:prstGeom prst="rect">
            <a:avLst/>
          </a:prstGeom>
          <a:noFill/>
        </p:spPr>
        <p:txBody>
          <a:bodyPr wrap="none">
            <a:spAutoFit/>
          </a:bodyPr>
          <a:lstStyle/>
          <a:p>
            <a:pPr>
              <a:defRPr sz="1400" b="1">
                <a:solidFill>
                  <a:srgbClr val="FFFFFF"/>
                </a:solidFill>
              </a:defRPr>
            </a:pPr>
            <a:r>
              <a:t>05   |   TCO, Scalability &amp; Strategic ROI  —  Context Caching (CAG), BigQuery Telemetry, &amp; Net Value</a:t>
            </a:r>
          </a:p>
        </p:txBody>
      </p:sp>
      <p:sp>
        <p:nvSpPr>
          <p:cNvPr id="13" name="Rectangle 12"/>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4285F4"/>
                </a:solidFill>
              </a:defRPr>
            </a:pPr>
            <a:r>
              <a:t>CONFIDENTIAL + PROPRIETARY | GOOGLE CLOUD</a:t>
            </a:r>
          </a:p>
          <a:p>
            <a:pPr>
              <a:spcAft>
                <a:spcPts val="200"/>
              </a:spcAft>
              <a:defRPr sz="2400" b="1">
                <a:solidFill>
                  <a:srgbClr val="FFFFFF"/>
                </a:solidFill>
              </a:defRPr>
            </a:pPr>
            <a:r>
              <a:t>Baseline Business Problem — The Analyst Bottleneck</a:t>
            </a:r>
          </a:p>
          <a:p>
            <a:pPr>
              <a:defRPr sz="1300">
                <a:solidFill>
                  <a:srgbClr val="4285F4"/>
                </a:solidFill>
              </a:defRPr>
            </a:pPr>
            <a:r>
              <a:t>The Manual Challenge of SEC Filing Parsing in Financial Services</a:t>
            </a:r>
          </a:p>
        </p:txBody>
      </p:sp>
      <p:sp>
        <p:nvSpPr>
          <p:cNvPr id="3" name="Rounded Rectangle 2"/>
          <p:cNvSpPr/>
          <p:nvPr/>
        </p:nvSpPr>
        <p:spPr>
          <a:xfrm>
            <a:off x="7315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FFFFFF"/>
                </a:solidFill>
              </a:defRPr>
            </a:pPr>
            <a:r>
              <a:t>Current Manual Process (Legacy State)</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800"/>
              </a:spcAft>
              <a:defRPr sz="1200">
                <a:solidFill>
                  <a:srgbClr val="FFFFFF"/>
                </a:solidFill>
              </a:defRPr>
            </a:pPr>
            <a:r>
              <a:t>• 2.5 Hours per Report: 150 minutes spent manually reading 300+ page 10-K filings and calculating margins.</a:t>
            </a:r>
          </a:p>
          <a:p>
            <a:pPr>
              <a:spcAft>
                <a:spcPts val="800"/>
              </a:spcAft>
              <a:defRPr sz="1200">
                <a:solidFill>
                  <a:srgbClr val="FFFFFF"/>
                </a:solidFill>
              </a:defRPr>
            </a:pPr>
            <a:r>
              <a:t>• 3,000 Hours Wasted Annually: Across 15 Senior Analysts producing ~80 comprehensive reports per year.</a:t>
            </a:r>
          </a:p>
          <a:p>
            <a:pPr>
              <a:spcAft>
                <a:spcPts val="800"/>
              </a:spcAft>
              <a:defRPr sz="1200">
                <a:solidFill>
                  <a:srgbClr val="FFFFFF"/>
                </a:solidFill>
              </a:defRPr>
            </a:pPr>
            <a:r>
              <a:t>• $270,000 Direct Labor Spend: 3,000 hours at $90/hr loaded FSI senior analyst rate.</a:t>
            </a:r>
          </a:p>
          <a:p>
            <a:pPr>
              <a:spcAft>
                <a:spcPts val="800"/>
              </a:spcAft>
              <a:defRPr sz="1200">
                <a:solidFill>
                  <a:srgbClr val="FFFFFF"/>
                </a:solidFill>
              </a:defRPr>
            </a:pPr>
            <a:r>
              <a:t>• High Risk of Arithmetic Errors: Manual spreadsheet copy-pasting creates material risk in valuation models.</a:t>
            </a:r>
          </a:p>
          <a:p>
            <a:pPr>
              <a:spcAft>
                <a:spcPts val="800"/>
              </a:spcAft>
              <a:defRPr sz="1200">
                <a:solidFill>
                  <a:srgbClr val="FFFFFF"/>
                </a:solidFill>
              </a:defRPr>
            </a:pPr>
            <a:r>
              <a:t>• Decision Friction: Slow 3-day turnaround delays portfolio rebalancing and executive investment decisions.</a:t>
            </a:r>
          </a:p>
        </p:txBody>
      </p:sp>
      <p:sp>
        <p:nvSpPr>
          <p:cNvPr id="6" name="Rounded Rectangle 5"/>
          <p:cNvSpPr/>
          <p:nvPr/>
        </p:nvSpPr>
        <p:spPr>
          <a:xfrm>
            <a:off x="62179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FFFFFF"/>
                </a:solidFill>
              </a:defRPr>
            </a:pPr>
            <a:r>
              <a:t>Why Standard LLMs Fail in Finance</a:t>
            </a:r>
          </a:p>
        </p:txBody>
      </p:sp>
      <p:sp>
        <p:nvSpPr>
          <p:cNvPr id="8" name="TextBox 7"/>
          <p:cNvSpPr txBox="1"/>
          <p:nvPr/>
        </p:nvSpPr>
        <p:spPr>
          <a:xfrm>
            <a:off x="6400800" y="2286000"/>
            <a:ext cx="4846320" cy="3474720"/>
          </a:xfrm>
          <a:prstGeom prst="rect">
            <a:avLst/>
          </a:prstGeom>
          <a:noFill/>
        </p:spPr>
        <p:txBody>
          <a:bodyPr wrap="square" lIns="0" tIns="0" rIns="0" bIns="0">
            <a:spAutoFit/>
          </a:bodyPr>
          <a:lstStyle/>
          <a:p>
            <a:pPr>
              <a:spcAft>
                <a:spcPts val="800"/>
              </a:spcAft>
              <a:defRPr sz="1200">
                <a:solidFill>
                  <a:srgbClr val="FFFFFF"/>
                </a:solidFill>
              </a:defRPr>
            </a:pPr>
            <a:r>
              <a:t>• Probabilistic Math Hallucinations: Standard LLMs calculate math probabilistically, producing incorrect variance numbers.</a:t>
            </a:r>
          </a:p>
          <a:p>
            <a:pPr>
              <a:spcAft>
                <a:spcPts val="800"/>
              </a:spcAft>
              <a:defRPr sz="1200">
                <a:solidFill>
                  <a:srgbClr val="FFFFFF"/>
                </a:solidFill>
              </a:defRPr>
            </a:pPr>
            <a:r>
              <a:t>• Lack of Paragraph-Level Auditability: Black-box text generation prevents verification back to source filing excerpts.</a:t>
            </a:r>
          </a:p>
          <a:p>
            <a:pPr>
              <a:spcAft>
                <a:spcPts val="800"/>
              </a:spcAft>
              <a:defRPr sz="1200">
                <a:solidFill>
                  <a:srgbClr val="FFFFFF"/>
                </a:solidFill>
              </a:defRPr>
            </a:pPr>
            <a:r>
              <a:t>• Security &amp; Data Privacy Risks: Public API LLM usage exposes proprietary analysis and violates compliance perimeters.</a:t>
            </a:r>
          </a:p>
          <a:p>
            <a:pPr>
              <a:spcAft>
                <a:spcPts val="800"/>
              </a:spcAft>
              <a:defRPr sz="1200">
                <a:solidFill>
                  <a:srgbClr val="FFFFFF"/>
                </a:solidFill>
              </a:defRPr>
            </a:pPr>
            <a:r>
              <a:t>• High Pre-fill Latency: Processing massive 300-page 10-Ks leads to 15s+ TTFT without context caching.</a:t>
            </a:r>
          </a:p>
        </p:txBody>
      </p:sp>
      <p:sp>
        <p:nvSpPr>
          <p:cNvPr id="9" name="Rectangle 8"/>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4285F4"/>
                </a:solidFill>
              </a:defRPr>
            </a:pPr>
            <a:r>
              <a:t>CONFIDENTIAL + PROPRIETARY | GOOGLE CLOUD</a:t>
            </a:r>
          </a:p>
          <a:p>
            <a:pPr>
              <a:spcAft>
                <a:spcPts val="200"/>
              </a:spcAft>
              <a:defRPr sz="2400" b="1">
                <a:solidFill>
                  <a:srgbClr val="FFFFFF"/>
                </a:solidFill>
              </a:defRPr>
            </a:pPr>
            <a:r>
              <a:t>Target User Journey &amp; Operational Transformation</a:t>
            </a:r>
          </a:p>
          <a:p>
            <a:pPr>
              <a:defRPr sz="1300">
                <a:solidFill>
                  <a:srgbClr val="4285F4"/>
                </a:solidFill>
              </a:defRPr>
            </a:pPr>
            <a:r>
              <a:t>Reclaiming 2,900 Hours of Analyst Time via Grounded AI</a:t>
            </a:r>
          </a:p>
        </p:txBody>
      </p:sp>
      <p:sp>
        <p:nvSpPr>
          <p:cNvPr id="3" name="Rounded Rectangle 2"/>
          <p:cNvSpPr/>
          <p:nvPr/>
        </p:nvSpPr>
        <p:spPr>
          <a:xfrm>
            <a:off x="7315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FFFFFF"/>
                </a:solidFill>
              </a:defRPr>
            </a:pPr>
            <a:r>
              <a:t>Legacy Manual Analyst Workflow</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800"/>
              </a:spcAft>
              <a:defRPr sz="1200">
                <a:solidFill>
                  <a:srgbClr val="FFFFFF"/>
                </a:solidFill>
              </a:defRPr>
            </a:pPr>
            <a:r>
              <a:t>• 1. SEC EDGAR Search: Manually find and download multi-year 10-K PDFs.</a:t>
            </a:r>
          </a:p>
          <a:p>
            <a:pPr>
              <a:spcAft>
                <a:spcPts val="800"/>
              </a:spcAft>
              <a:defRPr sz="1200">
                <a:solidFill>
                  <a:srgbClr val="FFFFFF"/>
                </a:solidFill>
              </a:defRPr>
            </a:pPr>
            <a:r>
              <a:t>• 2. Document Parsing: Skim 300+ pages of footnotes, Item 7 MD&amp;A, and financial statements.</a:t>
            </a:r>
          </a:p>
          <a:p>
            <a:pPr>
              <a:spcAft>
                <a:spcPts val="800"/>
              </a:spcAft>
              <a:defRPr sz="1200">
                <a:solidFill>
                  <a:srgbClr val="FFFFFF"/>
                </a:solidFill>
              </a:defRPr>
            </a:pPr>
            <a:r>
              <a:t>• 3. Spreadsheet Math: Copy numbers into Excel to calculate YoY variance and growth rates.</a:t>
            </a:r>
          </a:p>
          <a:p>
            <a:pPr>
              <a:spcAft>
                <a:spcPts val="800"/>
              </a:spcAft>
              <a:defRPr sz="1200">
                <a:solidFill>
                  <a:srgbClr val="FFFFFF"/>
                </a:solidFill>
              </a:defRPr>
            </a:pPr>
            <a:r>
              <a:t>• 4. Memo Drafting: Write summary reports manually in Word.</a:t>
            </a:r>
          </a:p>
          <a:p>
            <a:pPr>
              <a:spcAft>
                <a:spcPts val="800"/>
              </a:spcAft>
              <a:defRPr sz="1200">
                <a:solidFill>
                  <a:srgbClr val="FFFFFF"/>
                </a:solidFill>
              </a:defRPr>
            </a:pPr>
            <a:r>
              <a:t>• Total Time: 150 minutes per report | High Error Risk</a:t>
            </a:r>
          </a:p>
        </p:txBody>
      </p:sp>
      <p:sp>
        <p:nvSpPr>
          <p:cNvPr id="6" name="Rounded Rectangle 5"/>
          <p:cNvSpPr/>
          <p:nvPr/>
        </p:nvSpPr>
        <p:spPr>
          <a:xfrm>
            <a:off x="6217920" y="1645920"/>
            <a:ext cx="5212080" cy="4389120"/>
          </a:xfrm>
          <a:prstGeom prst="roundRect">
            <a:avLst/>
          </a:prstGeom>
          <a:solidFill>
            <a:srgbClr val="1E293B"/>
          </a:solidFill>
          <a:ln w="1905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FFFFFF"/>
                </a:solidFill>
              </a:defRPr>
            </a:pPr>
            <a:r>
              <a:t>Grounded Agentic Workflow (After)</a:t>
            </a:r>
          </a:p>
        </p:txBody>
      </p:sp>
      <p:sp>
        <p:nvSpPr>
          <p:cNvPr id="8" name="TextBox 7"/>
          <p:cNvSpPr txBox="1"/>
          <p:nvPr/>
        </p:nvSpPr>
        <p:spPr>
          <a:xfrm>
            <a:off x="6400800" y="2286000"/>
            <a:ext cx="4846320" cy="3474720"/>
          </a:xfrm>
          <a:prstGeom prst="rect">
            <a:avLst/>
          </a:prstGeom>
          <a:noFill/>
        </p:spPr>
        <p:txBody>
          <a:bodyPr wrap="square" lIns="0" tIns="0" rIns="0" bIns="0">
            <a:spAutoFit/>
          </a:bodyPr>
          <a:lstStyle/>
          <a:p>
            <a:pPr>
              <a:spcAft>
                <a:spcPts val="800"/>
              </a:spcAft>
              <a:defRPr sz="1200">
                <a:solidFill>
                  <a:srgbClr val="FFFFFF"/>
                </a:solidFill>
              </a:defRPr>
            </a:pPr>
            <a:r>
              <a:t>• 1. Natural Language Prompt: 'Compare Tesla 2022 vs 2023 Revenue &amp; MD&amp;A Risks.'</a:t>
            </a:r>
          </a:p>
          <a:p>
            <a:pPr>
              <a:spcAft>
                <a:spcPts val="800"/>
              </a:spcAft>
              <a:defRPr sz="1200">
                <a:solidFill>
                  <a:srgbClr val="FFFFFF"/>
                </a:solidFill>
              </a:defRPr>
            </a:pPr>
            <a:r>
              <a:t>• 2. Autonomous ADK Orchestration: SQL metrics lookup + sandboxed Python math + Vertex AI search.</a:t>
            </a:r>
          </a:p>
          <a:p>
            <a:pPr>
              <a:spcAft>
                <a:spcPts val="800"/>
              </a:spcAft>
              <a:defRPr sz="1200">
                <a:solidFill>
                  <a:srgbClr val="FFFFFF"/>
                </a:solidFill>
              </a:defRPr>
            </a:pPr>
            <a:r>
              <a:t>• 3. Split-Pane Verification: Click inline citations to inspect exact 10-K source paragraphs.</a:t>
            </a:r>
          </a:p>
          <a:p>
            <a:pPr>
              <a:spcAft>
                <a:spcPts val="800"/>
              </a:spcAft>
              <a:defRPr sz="1200">
                <a:solidFill>
                  <a:srgbClr val="FFFFFF"/>
                </a:solidFill>
              </a:defRPr>
            </a:pPr>
            <a:r>
              <a:t>• 4. Human-in-the-Loop Export: One-click approval to generate verified report.</a:t>
            </a:r>
          </a:p>
          <a:p>
            <a:pPr>
              <a:spcAft>
                <a:spcPts val="800"/>
              </a:spcAft>
              <a:defRPr sz="1200">
                <a:solidFill>
                  <a:srgbClr val="FFFFFF"/>
                </a:solidFill>
              </a:defRPr>
            </a:pPr>
            <a:r>
              <a:t>• Total Time: &lt; 5 minutes per report | 100% Math Precision</a:t>
            </a:r>
          </a:p>
        </p:txBody>
      </p:sp>
      <p:sp>
        <p:nvSpPr>
          <p:cNvPr id="9" name="Rectangle 8"/>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4285F4"/>
                </a:solidFill>
              </a:defRPr>
            </a:pPr>
            <a:r>
              <a:t>CONFIDENTIAL + PROPRIETARY | GOOGLE CLOUD</a:t>
            </a:r>
          </a:p>
          <a:p>
            <a:pPr>
              <a:spcAft>
                <a:spcPts val="200"/>
              </a:spcAft>
              <a:defRPr sz="2400" b="1">
                <a:solidFill>
                  <a:srgbClr val="FFFFFF"/>
                </a:solidFill>
              </a:defRPr>
            </a:pPr>
            <a:r>
              <a:t>System Requirements &amp; Production SLAs</a:t>
            </a:r>
          </a:p>
          <a:p>
            <a:pPr>
              <a:defRPr sz="1300">
                <a:solidFill>
                  <a:srgbClr val="4285F4"/>
                </a:solidFill>
              </a:defRPr>
            </a:pPr>
            <a:r>
              <a:t>Core System Capabilities &amp; Empirical Performance Thresholds</a:t>
            </a:r>
          </a:p>
        </p:txBody>
      </p:sp>
      <p:sp>
        <p:nvSpPr>
          <p:cNvPr id="3" name="Rounded Rectangle 2"/>
          <p:cNvSpPr/>
          <p:nvPr/>
        </p:nvSpPr>
        <p:spPr>
          <a:xfrm>
            <a:off x="731520" y="1645920"/>
            <a:ext cx="246888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37360"/>
            <a:ext cx="2286000" cy="2011680"/>
          </a:xfrm>
          <a:prstGeom prst="rect">
            <a:avLst/>
          </a:prstGeom>
          <a:noFill/>
        </p:spPr>
        <p:txBody>
          <a:bodyPr wrap="square">
            <a:spAutoFit/>
          </a:bodyPr>
          <a:lstStyle/>
          <a:p>
            <a:pPr>
              <a:defRPr sz="3600" b="1">
                <a:solidFill>
                  <a:srgbClr val="4285F4"/>
                </a:solidFill>
              </a:defRPr>
            </a:pPr>
            <a:r>
              <a:t>100%</a:t>
            </a:r>
          </a:p>
          <a:p>
            <a:pPr>
              <a:defRPr sz="1400" b="1">
                <a:solidFill>
                  <a:srgbClr val="FFFFFF"/>
                </a:solidFill>
              </a:defRPr>
            </a:pPr>
            <a:r>
              <a:t>Math Accuracy</a:t>
            </a:r>
          </a:p>
          <a:p>
            <a:pPr>
              <a:defRPr sz="1000">
                <a:solidFill>
                  <a:srgbClr val="94A3B8"/>
                </a:solidFill>
              </a:defRPr>
            </a:pPr>
            <a:r>
              <a:t>Zero-LLM sandboxed Python calculation engine</a:t>
            </a:r>
          </a:p>
        </p:txBody>
      </p:sp>
      <p:sp>
        <p:nvSpPr>
          <p:cNvPr id="5" name="Rounded Rectangle 4"/>
          <p:cNvSpPr/>
          <p:nvPr/>
        </p:nvSpPr>
        <p:spPr>
          <a:xfrm>
            <a:off x="3474720" y="1645920"/>
            <a:ext cx="246888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1737360"/>
            <a:ext cx="2286000" cy="2011680"/>
          </a:xfrm>
          <a:prstGeom prst="rect">
            <a:avLst/>
          </a:prstGeom>
          <a:noFill/>
        </p:spPr>
        <p:txBody>
          <a:bodyPr wrap="square">
            <a:spAutoFit/>
          </a:bodyPr>
          <a:lstStyle/>
          <a:p>
            <a:pPr>
              <a:defRPr sz="3600" b="1">
                <a:solidFill>
                  <a:srgbClr val="4285F4"/>
                </a:solidFill>
              </a:defRPr>
            </a:pPr>
            <a:r>
              <a:t>≥ 92%</a:t>
            </a:r>
          </a:p>
          <a:p>
            <a:pPr>
              <a:defRPr sz="1400" b="1">
                <a:solidFill>
                  <a:srgbClr val="FFFFFF"/>
                </a:solidFill>
              </a:defRPr>
            </a:pPr>
            <a:r>
              <a:t>Grounded Precision</a:t>
            </a:r>
          </a:p>
          <a:p>
            <a:pPr>
              <a:defRPr sz="1000">
                <a:solidFill>
                  <a:srgbClr val="94A3B8"/>
                </a:solidFill>
              </a:defRPr>
            </a:pPr>
            <a:r>
              <a:t>Paragraph-level citations to SEC 10-K sections</a:t>
            </a:r>
          </a:p>
        </p:txBody>
      </p:sp>
      <p:sp>
        <p:nvSpPr>
          <p:cNvPr id="7" name="Rounded Rectangle 6"/>
          <p:cNvSpPr/>
          <p:nvPr/>
        </p:nvSpPr>
        <p:spPr>
          <a:xfrm>
            <a:off x="6217920" y="1645920"/>
            <a:ext cx="246888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59" y="1737360"/>
            <a:ext cx="2286000" cy="2011680"/>
          </a:xfrm>
          <a:prstGeom prst="rect">
            <a:avLst/>
          </a:prstGeom>
          <a:noFill/>
        </p:spPr>
        <p:txBody>
          <a:bodyPr wrap="square">
            <a:spAutoFit/>
          </a:bodyPr>
          <a:lstStyle/>
          <a:p>
            <a:pPr>
              <a:defRPr sz="3600" b="1">
                <a:solidFill>
                  <a:srgbClr val="4285F4"/>
                </a:solidFill>
              </a:defRPr>
            </a:pPr>
            <a:r>
              <a:t>&lt; 3.0s</a:t>
            </a:r>
          </a:p>
          <a:p>
            <a:pPr>
              <a:defRPr sz="1400" b="1">
                <a:solidFill>
                  <a:srgbClr val="FFFFFF"/>
                </a:solidFill>
              </a:defRPr>
            </a:pPr>
            <a:r>
              <a:t>Latency SLA</a:t>
            </a:r>
          </a:p>
          <a:p>
            <a:pPr>
              <a:defRPr sz="1000">
                <a:solidFill>
                  <a:srgbClr val="94A3B8"/>
                </a:solidFill>
              </a:defRPr>
            </a:pPr>
            <a:r>
              <a:t>1.31s measured benchmark execution average</a:t>
            </a:r>
          </a:p>
        </p:txBody>
      </p:sp>
      <p:sp>
        <p:nvSpPr>
          <p:cNvPr id="9" name="Rounded Rectangle 8"/>
          <p:cNvSpPr/>
          <p:nvPr/>
        </p:nvSpPr>
        <p:spPr>
          <a:xfrm>
            <a:off x="8961120" y="1645920"/>
            <a:ext cx="246888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0" y="1737360"/>
            <a:ext cx="2286000" cy="2011680"/>
          </a:xfrm>
          <a:prstGeom prst="rect">
            <a:avLst/>
          </a:prstGeom>
          <a:noFill/>
        </p:spPr>
        <p:txBody>
          <a:bodyPr wrap="square">
            <a:spAutoFit/>
          </a:bodyPr>
          <a:lstStyle/>
          <a:p>
            <a:pPr>
              <a:defRPr sz="3600" b="1">
                <a:solidFill>
                  <a:srgbClr val="4285F4"/>
                </a:solidFill>
              </a:defRPr>
            </a:pPr>
            <a:r>
              <a:t>100%</a:t>
            </a:r>
          </a:p>
          <a:p>
            <a:pPr>
              <a:defRPr sz="1400" b="1">
                <a:solidFill>
                  <a:srgbClr val="FFFFFF"/>
                </a:solidFill>
              </a:defRPr>
            </a:pPr>
            <a:r>
              <a:t>Compliance &amp; Audit</a:t>
            </a:r>
          </a:p>
          <a:p>
            <a:pPr>
              <a:defRPr sz="1000">
                <a:solidFill>
                  <a:srgbClr val="94A3B8"/>
                </a:solidFill>
              </a:defRPr>
            </a:pPr>
            <a:r>
              <a:t>Model Armor guardrails &amp; VPC-SC security perimeter</a:t>
            </a:r>
          </a:p>
        </p:txBody>
      </p:sp>
      <p:sp>
        <p:nvSpPr>
          <p:cNvPr id="11" name="Rounded Rectangle 10"/>
          <p:cNvSpPr/>
          <p:nvPr/>
        </p:nvSpPr>
        <p:spPr>
          <a:xfrm>
            <a:off x="731520" y="4114800"/>
            <a:ext cx="10728655"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97680"/>
            <a:ext cx="10362895" cy="457200"/>
          </a:xfrm>
          <a:prstGeom prst="rect">
            <a:avLst/>
          </a:prstGeom>
          <a:noFill/>
        </p:spPr>
        <p:txBody>
          <a:bodyPr wrap="square">
            <a:spAutoFit/>
          </a:bodyPr>
          <a:lstStyle/>
          <a:p>
            <a:pPr>
              <a:defRPr sz="1600" b="1">
                <a:solidFill>
                  <a:srgbClr val="FFFFFF"/>
                </a:solidFill>
              </a:defRPr>
            </a:pPr>
            <a:r>
              <a:t>Key Functional Requirements</a:t>
            </a:r>
          </a:p>
        </p:txBody>
      </p:sp>
      <p:sp>
        <p:nvSpPr>
          <p:cNvPr id="13" name="TextBox 12"/>
          <p:cNvSpPr txBox="1"/>
          <p:nvPr/>
        </p:nvSpPr>
        <p:spPr>
          <a:xfrm>
            <a:off x="914400" y="4572000"/>
            <a:ext cx="10332720" cy="1371600"/>
          </a:xfrm>
          <a:prstGeom prst="rect">
            <a:avLst/>
          </a:prstGeom>
          <a:noFill/>
        </p:spPr>
        <p:txBody>
          <a:bodyPr wrap="square" lIns="0" tIns="0" rIns="0" bIns="0">
            <a:spAutoFit/>
          </a:bodyPr>
          <a:lstStyle/>
          <a:p>
            <a:pPr>
              <a:spcAft>
                <a:spcPts val="800"/>
              </a:spcAft>
              <a:defRPr sz="1200">
                <a:solidFill>
                  <a:srgbClr val="FFFFFF"/>
                </a:solidFill>
              </a:defRPr>
            </a:pPr>
            <a:r>
              <a:t>• Deterministic numerical calculations for verifiable financial reporting.</a:t>
            </a:r>
          </a:p>
          <a:p>
            <a:pPr>
              <a:spcAft>
                <a:spcPts val="800"/>
              </a:spcAft>
              <a:defRPr sz="1200">
                <a:solidFill>
                  <a:srgbClr val="FFFFFF"/>
                </a:solidFill>
              </a:defRPr>
            </a:pPr>
            <a:r>
              <a:t>• Dual-path hybrid search merging BigQuery SQL metrics with Vertex AI Search vector chunks.</a:t>
            </a:r>
          </a:p>
          <a:p>
            <a:pPr>
              <a:spcAft>
                <a:spcPts val="800"/>
              </a:spcAft>
              <a:defRPr sz="1200">
                <a:solidFill>
                  <a:srgbClr val="FFFFFF"/>
                </a:solidFill>
              </a:defRPr>
            </a:pPr>
            <a:r>
              <a:t>• Split-pane UI rendering grounded inline citations linking back to original GCS filings.</a:t>
            </a:r>
          </a:p>
          <a:p>
            <a:pPr>
              <a:spcAft>
                <a:spcPts val="800"/>
              </a:spcAft>
              <a:defRPr sz="1200">
                <a:solidFill>
                  <a:srgbClr val="FFFFFF"/>
                </a:solidFill>
              </a:defRPr>
            </a:pPr>
            <a:r>
              <a:t>• Human-in-the-loop (HITL) approval gate for all report exports.</a:t>
            </a:r>
          </a:p>
        </p:txBody>
      </p:sp>
      <p:sp>
        <p:nvSpPr>
          <p:cNvPr id="14" name="Rectangle 13"/>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4285F4"/>
                </a:solidFill>
              </a:defRPr>
            </a:pPr>
            <a:r>
              <a:t>CONFIDENTIAL + PROPRIETARY | GOOGLE CLOUD</a:t>
            </a:r>
          </a:p>
          <a:p>
            <a:pPr>
              <a:spcAft>
                <a:spcPts val="200"/>
              </a:spcAft>
              <a:defRPr sz="2400" b="1">
                <a:solidFill>
                  <a:srgbClr val="FFFFFF"/>
                </a:solidFill>
              </a:defRPr>
            </a:pPr>
            <a:r>
              <a:t>Live Product Demo &amp; Interface Experience</a:t>
            </a:r>
          </a:p>
          <a:p>
            <a:pPr>
              <a:defRPr sz="1300">
                <a:solidFill>
                  <a:srgbClr val="4285F4"/>
                </a:solidFill>
              </a:defRPr>
            </a:pPr>
            <a:r>
              <a:t>Interactive Split-Pane View, Grounded Citations, &amp; A2UI Protocol</a:t>
            </a:r>
          </a:p>
        </p:txBody>
      </p:sp>
      <p:sp>
        <p:nvSpPr>
          <p:cNvPr id="3" name="Rounded Rectangle 2"/>
          <p:cNvSpPr/>
          <p:nvPr/>
        </p:nvSpPr>
        <p:spPr>
          <a:xfrm>
            <a:off x="731520" y="1645920"/>
            <a:ext cx="548640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5120640" cy="457200"/>
          </a:xfrm>
          <a:prstGeom prst="rect">
            <a:avLst/>
          </a:prstGeom>
          <a:noFill/>
        </p:spPr>
        <p:txBody>
          <a:bodyPr wrap="square">
            <a:spAutoFit/>
          </a:bodyPr>
          <a:lstStyle/>
          <a:p>
            <a:pPr>
              <a:defRPr sz="1600" b="1">
                <a:solidFill>
                  <a:srgbClr val="FFFFFF"/>
                </a:solidFill>
              </a:defRPr>
            </a:pPr>
            <a:r>
              <a:t>Analyst User Experience (UI Breakdown)</a:t>
            </a:r>
          </a:p>
        </p:txBody>
      </p:sp>
      <p:sp>
        <p:nvSpPr>
          <p:cNvPr id="5" name="TextBox 4"/>
          <p:cNvSpPr txBox="1"/>
          <p:nvPr/>
        </p:nvSpPr>
        <p:spPr>
          <a:xfrm>
            <a:off x="914400" y="2286000"/>
            <a:ext cx="5120640" cy="3474720"/>
          </a:xfrm>
          <a:prstGeom prst="rect">
            <a:avLst/>
          </a:prstGeom>
          <a:noFill/>
        </p:spPr>
        <p:txBody>
          <a:bodyPr wrap="square" lIns="0" tIns="0" rIns="0" bIns="0">
            <a:spAutoFit/>
          </a:bodyPr>
          <a:lstStyle/>
          <a:p>
            <a:pPr>
              <a:spcAft>
                <a:spcPts val="800"/>
              </a:spcAft>
              <a:defRPr sz="1200">
                <a:solidFill>
                  <a:srgbClr val="FFFFFF"/>
                </a:solidFill>
              </a:defRPr>
            </a:pPr>
            <a:r>
              <a:t>• 1. Split-Pane Architecture: Left pane for conversational AI narrative; right pane for full-text 10-K document inspection.</a:t>
            </a:r>
          </a:p>
          <a:p>
            <a:pPr>
              <a:spcAft>
                <a:spcPts val="800"/>
              </a:spcAft>
              <a:defRPr sz="1200">
                <a:solidFill>
                  <a:srgbClr val="FFFFFF"/>
                </a:solidFill>
              </a:defRPr>
            </a:pPr>
            <a:r>
              <a:t>• 2. Grounded Citation Links: Clicking highlighted text (&lt;mark&gt;) immediately jumps the right pane to the exact paragraph in GCS.</a:t>
            </a:r>
          </a:p>
          <a:p>
            <a:pPr>
              <a:spcAft>
                <a:spcPts val="800"/>
              </a:spcAft>
              <a:defRPr sz="1200">
                <a:solidFill>
                  <a:srgbClr val="FFFFFF"/>
                </a:solidFill>
              </a:defRPr>
            </a:pPr>
            <a:r>
              <a:t>• 3. Dynamic A2UI Protocol: Auto-renders structured JSON specs as dynamic formatted variance tables and bar charts.</a:t>
            </a:r>
          </a:p>
          <a:p>
            <a:pPr>
              <a:spcAft>
                <a:spcPts val="800"/>
              </a:spcAft>
              <a:defRPr sz="1200">
                <a:solidFill>
                  <a:srgbClr val="FFFFFF"/>
                </a:solidFill>
              </a:defRPr>
            </a:pPr>
            <a:r>
              <a:t>• 4. Human-in-the-Loop Gate: Mandatory confirmation modal before exporting financial reports to Cloud Storage buckets.</a:t>
            </a:r>
          </a:p>
        </p:txBody>
      </p:sp>
      <p:sp>
        <p:nvSpPr>
          <p:cNvPr id="6" name="Rounded Rectangle 5"/>
          <p:cNvSpPr/>
          <p:nvPr/>
        </p:nvSpPr>
        <p:spPr>
          <a:xfrm>
            <a:off x="6492240" y="1645920"/>
            <a:ext cx="4937760" cy="4389120"/>
          </a:xfrm>
          <a:prstGeom prst="roundRect">
            <a:avLst/>
          </a:prstGeom>
          <a:solidFill>
            <a:srgbClr val="1E293B"/>
          </a:solidFill>
          <a:ln w="1905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828800"/>
            <a:ext cx="4572000" cy="457200"/>
          </a:xfrm>
          <a:prstGeom prst="rect">
            <a:avLst/>
          </a:prstGeom>
          <a:noFill/>
        </p:spPr>
        <p:txBody>
          <a:bodyPr wrap="square">
            <a:spAutoFit/>
          </a:bodyPr>
          <a:lstStyle/>
          <a:p>
            <a:pPr>
              <a:defRPr sz="1600" b="1">
                <a:solidFill>
                  <a:srgbClr val="FFFFFF"/>
                </a:solidFill>
              </a:defRPr>
            </a:pPr>
            <a:r>
              <a:t>UI Architecture Mockup</a:t>
            </a:r>
          </a:p>
        </p:txBody>
      </p:sp>
      <p:sp>
        <p:nvSpPr>
          <p:cNvPr id="8" name="TextBox 7"/>
          <p:cNvSpPr txBox="1"/>
          <p:nvPr/>
        </p:nvSpPr>
        <p:spPr>
          <a:xfrm>
            <a:off x="6675120" y="2286000"/>
            <a:ext cx="4572000" cy="3474720"/>
          </a:xfrm>
          <a:prstGeom prst="rect">
            <a:avLst/>
          </a:prstGeom>
          <a:noFill/>
        </p:spPr>
        <p:txBody>
          <a:bodyPr wrap="square">
            <a:spAutoFit/>
          </a:bodyPr>
          <a:lstStyle/>
          <a:p>
            <a:pPr>
              <a:defRPr sz="1300">
                <a:solidFill>
                  <a:srgbClr val="4285F4"/>
                </a:solidFill>
              </a:defRPr>
            </a:pPr>
            <a:r>
              <a:t>[ LEFT PANE: Agent Chat &amp; A2UI ]</a:t>
            </a:r>
            <a:br/>
            <a:r>
              <a:t>• User Query</a:t>
            </a:r>
            <a:br/>
            <a:r>
              <a:t>• Grounded Narrative + Inline Citations</a:t>
            </a:r>
            <a:br/>
            <a:r>
              <a:t>• Dynamic Financial Variance Table</a:t>
            </a:r>
            <a:br/>
            <a:br/>
            <a:r>
              <a:t>[ RIGHT PANE: Grounded Document ]</a:t>
            </a:r>
            <a:br/>
            <a:r>
              <a:t>• Highlighted 10-K Excerpt (Item 7 MD&amp;A)</a:t>
            </a:r>
            <a:br/>
            <a:r>
              <a:t>• Source: gs://sec-analyst-sec-reports/...</a:t>
            </a:r>
          </a:p>
        </p:txBody>
      </p:sp>
      <p:sp>
        <p:nvSpPr>
          <p:cNvPr id="9" name="Rectangle 8"/>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4285F4"/>
                </a:solidFill>
              </a:defRPr>
            </a:pPr>
            <a:r>
              <a:t>CONFIDENTIAL + PROPRIETARY | GOOGLE CLOUD</a:t>
            </a:r>
          </a:p>
          <a:p>
            <a:pPr>
              <a:spcAft>
                <a:spcPts val="200"/>
              </a:spcAft>
              <a:defRPr sz="2400" b="1">
                <a:solidFill>
                  <a:srgbClr val="FFFFFF"/>
                </a:solidFill>
              </a:defRPr>
            </a:pPr>
            <a:r>
              <a:t>Solution Overview — The 4 Technical Pillars</a:t>
            </a:r>
          </a:p>
          <a:p>
            <a:pPr>
              <a:defRPr sz="1300">
                <a:solidFill>
                  <a:srgbClr val="4285F4"/>
                </a:solidFill>
              </a:defRPr>
            </a:pPr>
            <a:r>
              <a:t>Enterprise-Grade Financial Architecture on Google Cloud</a:t>
            </a:r>
          </a:p>
        </p:txBody>
      </p:sp>
      <p:sp>
        <p:nvSpPr>
          <p:cNvPr id="3" name="Rounded Rectangle 2"/>
          <p:cNvSpPr/>
          <p:nvPr/>
        </p:nvSpPr>
        <p:spPr>
          <a:xfrm>
            <a:off x="731520" y="1645920"/>
            <a:ext cx="5212080" cy="2057400"/>
          </a:xfrm>
          <a:prstGeom prst="roundRect">
            <a:avLst/>
          </a:prstGeom>
          <a:solidFill>
            <a:srgbClr val="1E293B"/>
          </a:solidFill>
          <a:ln w="1905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FFFFFF"/>
                </a:solidFill>
              </a:defRPr>
            </a:pPr>
            <a:r>
              <a:t>Pillar 1: Agentic Core (ADK)</a:t>
            </a:r>
          </a:p>
        </p:txBody>
      </p:sp>
      <p:sp>
        <p:nvSpPr>
          <p:cNvPr id="5" name="TextBox 4"/>
          <p:cNvSpPr txBox="1"/>
          <p:nvPr/>
        </p:nvSpPr>
        <p:spPr>
          <a:xfrm>
            <a:off x="914400" y="2286000"/>
            <a:ext cx="4846320" cy="1280160"/>
          </a:xfrm>
          <a:prstGeom prst="rect">
            <a:avLst/>
          </a:prstGeom>
          <a:noFill/>
        </p:spPr>
        <p:txBody>
          <a:bodyPr wrap="square" lIns="0" tIns="0" rIns="0" bIns="0">
            <a:spAutoFit/>
          </a:bodyPr>
          <a:lstStyle/>
          <a:p>
            <a:pPr>
              <a:spcAft>
                <a:spcPts val="800"/>
              </a:spcAft>
              <a:defRPr sz="1200">
                <a:solidFill>
                  <a:srgbClr val="FFFFFF"/>
                </a:solidFill>
              </a:defRPr>
            </a:pPr>
            <a:r>
              <a:t>• Google Agent Development Kit RootOrchestrator with Supervisor pattern &amp; specialized Search Sub-Agent.</a:t>
            </a:r>
          </a:p>
        </p:txBody>
      </p:sp>
      <p:sp>
        <p:nvSpPr>
          <p:cNvPr id="6" name="Rounded Rectangle 5"/>
          <p:cNvSpPr/>
          <p:nvPr/>
        </p:nvSpPr>
        <p:spPr>
          <a:xfrm>
            <a:off x="6217920" y="1645920"/>
            <a:ext cx="5212080" cy="2057400"/>
          </a:xfrm>
          <a:prstGeom prst="roundRect">
            <a:avLst/>
          </a:prstGeom>
          <a:solidFill>
            <a:srgbClr val="1E293B"/>
          </a:solidFill>
          <a:ln w="190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FFFFFF"/>
                </a:solidFill>
              </a:defRPr>
            </a:pPr>
            <a:r>
              <a:t>Pillar 2: Decoupled Math Engine</a:t>
            </a:r>
          </a:p>
        </p:txBody>
      </p:sp>
      <p:sp>
        <p:nvSpPr>
          <p:cNvPr id="8" name="TextBox 7"/>
          <p:cNvSpPr txBox="1"/>
          <p:nvPr/>
        </p:nvSpPr>
        <p:spPr>
          <a:xfrm>
            <a:off x="6400800" y="2286000"/>
            <a:ext cx="4846320" cy="1280160"/>
          </a:xfrm>
          <a:prstGeom prst="rect">
            <a:avLst/>
          </a:prstGeom>
          <a:noFill/>
        </p:spPr>
        <p:txBody>
          <a:bodyPr wrap="square" lIns="0" tIns="0" rIns="0" bIns="0">
            <a:spAutoFit/>
          </a:bodyPr>
          <a:lstStyle/>
          <a:p>
            <a:pPr>
              <a:spcAft>
                <a:spcPts val="800"/>
              </a:spcAft>
              <a:defRPr sz="1200">
                <a:solidFill>
                  <a:srgbClr val="FFFFFF"/>
                </a:solidFill>
              </a:defRPr>
            </a:pPr>
            <a:r>
              <a:t>• Sandboxed Python execution solver (calculation_engine.py) for 100% computational accuracy.</a:t>
            </a:r>
          </a:p>
        </p:txBody>
      </p:sp>
      <p:sp>
        <p:nvSpPr>
          <p:cNvPr id="9" name="Rounded Rectangle 8"/>
          <p:cNvSpPr/>
          <p:nvPr/>
        </p:nvSpPr>
        <p:spPr>
          <a:xfrm>
            <a:off x="731520" y="3931920"/>
            <a:ext cx="5212080" cy="2057400"/>
          </a:xfrm>
          <a:prstGeom prst="roundRect">
            <a:avLst/>
          </a:prstGeom>
          <a:solidFill>
            <a:srgbClr val="1E293B"/>
          </a:solidFill>
          <a:ln w="19050">
            <a:solidFill>
              <a:srgbClr val="FBBC0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14800"/>
            <a:ext cx="4846320" cy="457200"/>
          </a:xfrm>
          <a:prstGeom prst="rect">
            <a:avLst/>
          </a:prstGeom>
          <a:noFill/>
        </p:spPr>
        <p:txBody>
          <a:bodyPr wrap="square">
            <a:spAutoFit/>
          </a:bodyPr>
          <a:lstStyle/>
          <a:p>
            <a:pPr>
              <a:defRPr sz="1600" b="1">
                <a:solidFill>
                  <a:srgbClr val="FFFFFF"/>
                </a:solidFill>
              </a:defRPr>
            </a:pPr>
            <a:r>
              <a:t>Pillar 3: Hybrid Search RAG</a:t>
            </a:r>
          </a:p>
        </p:txBody>
      </p:sp>
      <p:sp>
        <p:nvSpPr>
          <p:cNvPr id="11" name="TextBox 10"/>
          <p:cNvSpPr txBox="1"/>
          <p:nvPr/>
        </p:nvSpPr>
        <p:spPr>
          <a:xfrm>
            <a:off x="914400" y="4572000"/>
            <a:ext cx="4846320" cy="1280160"/>
          </a:xfrm>
          <a:prstGeom prst="rect">
            <a:avLst/>
          </a:prstGeom>
          <a:noFill/>
        </p:spPr>
        <p:txBody>
          <a:bodyPr wrap="square" lIns="0" tIns="0" rIns="0" bIns="0">
            <a:spAutoFit/>
          </a:bodyPr>
          <a:lstStyle/>
          <a:p>
            <a:pPr>
              <a:spcAft>
                <a:spcPts val="800"/>
              </a:spcAft>
              <a:defRPr sz="1200">
                <a:solidFill>
                  <a:srgbClr val="FFFFFF"/>
                </a:solidFill>
              </a:defRPr>
            </a:pPr>
            <a:r>
              <a:t>• BigQuery SQL (structured metrics) + Vertex AI Search (unstructured 10-K vectors/BM25).</a:t>
            </a:r>
          </a:p>
        </p:txBody>
      </p:sp>
      <p:sp>
        <p:nvSpPr>
          <p:cNvPr id="12" name="Rounded Rectangle 11"/>
          <p:cNvSpPr/>
          <p:nvPr/>
        </p:nvSpPr>
        <p:spPr>
          <a:xfrm>
            <a:off x="6217920" y="3931920"/>
            <a:ext cx="5212080" cy="2057400"/>
          </a:xfrm>
          <a:prstGeom prst="roundRect">
            <a:avLst/>
          </a:prstGeom>
          <a:solidFill>
            <a:srgbClr val="1E293B"/>
          </a:solidFill>
          <a:ln w="19050">
            <a:solidFill>
              <a:srgbClr val="EA4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114800"/>
            <a:ext cx="4846320" cy="457200"/>
          </a:xfrm>
          <a:prstGeom prst="rect">
            <a:avLst/>
          </a:prstGeom>
          <a:noFill/>
        </p:spPr>
        <p:txBody>
          <a:bodyPr wrap="square">
            <a:spAutoFit/>
          </a:bodyPr>
          <a:lstStyle/>
          <a:p>
            <a:pPr>
              <a:defRPr sz="1600" b="1">
                <a:solidFill>
                  <a:srgbClr val="FFFFFF"/>
                </a:solidFill>
              </a:defRPr>
            </a:pPr>
            <a:r>
              <a:t>Pillar 4: Security Perimeter</a:t>
            </a:r>
          </a:p>
        </p:txBody>
      </p:sp>
      <p:sp>
        <p:nvSpPr>
          <p:cNvPr id="14" name="TextBox 13"/>
          <p:cNvSpPr txBox="1"/>
          <p:nvPr/>
        </p:nvSpPr>
        <p:spPr>
          <a:xfrm>
            <a:off x="6400800" y="4572000"/>
            <a:ext cx="4846320" cy="1280160"/>
          </a:xfrm>
          <a:prstGeom prst="rect">
            <a:avLst/>
          </a:prstGeom>
          <a:noFill/>
        </p:spPr>
        <p:txBody>
          <a:bodyPr wrap="square" lIns="0" tIns="0" rIns="0" bIns="0">
            <a:spAutoFit/>
          </a:bodyPr>
          <a:lstStyle/>
          <a:p>
            <a:pPr>
              <a:spcAft>
                <a:spcPts val="800"/>
              </a:spcAft>
              <a:defRPr sz="1200">
                <a:solidFill>
                  <a:srgbClr val="FFFFFF"/>
                </a:solidFill>
              </a:defRPr>
            </a:pPr>
            <a:r>
              <a:t>• VPC-SC perimeter, Model Armor ingress/egress callbacks, DLP PII redaction, &amp; HITL gate.</a:t>
            </a:r>
          </a:p>
        </p:txBody>
      </p:sp>
      <p:sp>
        <p:nvSpPr>
          <p:cNvPr id="15" name="Rectangle 14"/>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4285F4"/>
                </a:solidFill>
              </a:defRPr>
            </a:pPr>
            <a:r>
              <a:t>CONFIDENTIAL + PROPRIETARY | GOOGLE CLOUD</a:t>
            </a:r>
          </a:p>
          <a:p>
            <a:pPr>
              <a:spcAft>
                <a:spcPts val="200"/>
              </a:spcAft>
              <a:defRPr sz="2400" b="1">
                <a:solidFill>
                  <a:srgbClr val="FFFFFF"/>
                </a:solidFill>
              </a:defRPr>
            </a:pPr>
            <a:r>
              <a:t>End-to-End System Architecture Overview</a:t>
            </a:r>
          </a:p>
          <a:p>
            <a:pPr>
              <a:defRPr sz="1300">
                <a:solidFill>
                  <a:srgbClr val="4285F4"/>
                </a:solidFill>
              </a:defRPr>
            </a:pPr>
            <a:r>
              <a:t>Detailed Data Flow across Presentation, API, ADK Core, &amp; GCP Data Foundation</a:t>
            </a:r>
          </a:p>
        </p:txBody>
      </p:sp>
      <p:sp>
        <p:nvSpPr>
          <p:cNvPr id="3" name="Rounded Rectangle 2"/>
          <p:cNvSpPr/>
          <p:nvPr/>
        </p:nvSpPr>
        <p:spPr>
          <a:xfrm>
            <a:off x="731520" y="1645920"/>
            <a:ext cx="10728655"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62895" cy="457200"/>
          </a:xfrm>
          <a:prstGeom prst="rect">
            <a:avLst/>
          </a:prstGeom>
          <a:noFill/>
        </p:spPr>
        <p:txBody>
          <a:bodyPr wrap="square">
            <a:spAutoFit/>
          </a:bodyPr>
          <a:lstStyle/>
          <a:p>
            <a:pPr>
              <a:defRPr sz="1600" b="1">
                <a:solidFill>
                  <a:srgbClr val="FFFFFF"/>
                </a:solidFill>
              </a:defRPr>
            </a:pPr>
            <a:r>
              <a:t>System Flow (Refer to docs/architectural_diagrams.md Diagram 1)</a:t>
            </a:r>
          </a:p>
        </p:txBody>
      </p:sp>
      <p:sp>
        <p:nvSpPr>
          <p:cNvPr id="5" name="TextBox 4"/>
          <p:cNvSpPr txBox="1"/>
          <p:nvPr/>
        </p:nvSpPr>
        <p:spPr>
          <a:xfrm>
            <a:off x="914400" y="2194560"/>
            <a:ext cx="10332720" cy="3657600"/>
          </a:xfrm>
          <a:prstGeom prst="rect">
            <a:avLst/>
          </a:prstGeom>
          <a:noFill/>
        </p:spPr>
        <p:txBody>
          <a:bodyPr wrap="square" lIns="0" tIns="0" rIns="0" bIns="0">
            <a:spAutoFit/>
          </a:bodyPr>
          <a:lstStyle/>
          <a:p>
            <a:pPr>
              <a:spcAft>
                <a:spcPts val="800"/>
              </a:spcAft>
              <a:defRPr sz="1200">
                <a:solidFill>
                  <a:srgbClr val="FFFFFF"/>
                </a:solidFill>
              </a:defRPr>
            </a:pPr>
            <a:r>
              <a:t>• Presentation Layer: React 18 / TypeScript Web UI executing Split-Pane context &amp; A2UI JSON specification rendering.</a:t>
            </a:r>
          </a:p>
          <a:p>
            <a:pPr>
              <a:spcAft>
                <a:spcPts val="800"/>
              </a:spcAft>
              <a:defRPr sz="1200">
                <a:solidFill>
                  <a:srgbClr val="FFFFFF"/>
                </a:solidFill>
              </a:defRPr>
            </a:pPr>
            <a:r>
              <a:t>• API &amp; Session Layer: FastAPI on Cloud Run invoking AppController (app/app_controller.py) &amp; Persistent Session Store.</a:t>
            </a:r>
          </a:p>
          <a:p>
            <a:pPr>
              <a:spcAft>
                <a:spcPts val="800"/>
              </a:spcAft>
              <a:defRPr sz="1200">
                <a:solidFill>
                  <a:srgbClr val="FFFFFF"/>
                </a:solidFill>
              </a:defRPr>
            </a:pPr>
            <a:r>
              <a:t>• Security Ingress: Model Armor callback (model_armor_before_model_callback) inspecting prompt streams for jailbreaks &amp; PII.</a:t>
            </a:r>
          </a:p>
          <a:p>
            <a:pPr>
              <a:spcAft>
                <a:spcPts val="800"/>
              </a:spcAft>
              <a:defRPr sz="1200">
                <a:solidFill>
                  <a:srgbClr val="FFFFFF"/>
                </a:solidFill>
              </a:defRPr>
            </a:pPr>
            <a:r>
              <a:t>• Agentic Core: ADK RootOrchestrator (agent/root_orchestrator.py) applying System Constitution to route requests.</a:t>
            </a:r>
          </a:p>
          <a:p>
            <a:pPr>
              <a:spcAft>
                <a:spcPts val="800"/>
              </a:spcAft>
              <a:defRPr sz="1200">
                <a:solidFill>
                  <a:srgbClr val="FFFFFF"/>
                </a:solidFill>
              </a:defRPr>
            </a:pPr>
            <a:r>
              <a:t>• Tools &amp; Sub-Agents: Query BigQuery Tool, Sandboxed Calculation Tool, Search Sub-Agent, &amp; HITL Export Tool.</a:t>
            </a:r>
          </a:p>
          <a:p>
            <a:pPr>
              <a:spcAft>
                <a:spcPts val="800"/>
              </a:spcAft>
              <a:defRPr sz="1200">
                <a:solidFill>
                  <a:srgbClr val="FFFFFF"/>
                </a:solidFill>
              </a:defRPr>
            </a:pPr>
            <a:r>
              <a:t>• GCP Data Foundation: BigQuery Golden Tables, Vertex AI Search DataStore, &amp; GCS Bucket Filings (gs://sec-analyst-sec-reports/).</a:t>
            </a:r>
          </a:p>
        </p:txBody>
      </p:sp>
      <p:sp>
        <p:nvSpPr>
          <p:cNvPr id="6" name="Rectangle 5"/>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4285F4"/>
                </a:solidFill>
              </a:defRPr>
            </a:pPr>
            <a:r>
              <a:t>CONFIDENTIAL + PROPRIETARY | GOOGLE CLOUD</a:t>
            </a:r>
          </a:p>
          <a:p>
            <a:pPr>
              <a:spcAft>
                <a:spcPts val="200"/>
              </a:spcAft>
              <a:defRPr sz="2400" b="1">
                <a:solidFill>
                  <a:srgbClr val="FFFFFF"/>
                </a:solidFill>
              </a:defRPr>
            </a:pPr>
            <a:r>
              <a:t>Layer Deep Dive 1 — Presentation Layer &amp; A2UI Protocol</a:t>
            </a:r>
          </a:p>
          <a:p>
            <a:pPr>
              <a:defRPr sz="1300">
                <a:solidFill>
                  <a:srgbClr val="4285F4"/>
                </a:solidFill>
              </a:defRPr>
            </a:pPr>
            <a:r>
              <a:t>React 18, Split-Pane Grounded Citations, &amp; Structured Visual Protocols</a:t>
            </a:r>
          </a:p>
        </p:txBody>
      </p:sp>
      <p:sp>
        <p:nvSpPr>
          <p:cNvPr id="3" name="Rounded Rectangle 2"/>
          <p:cNvSpPr/>
          <p:nvPr/>
        </p:nvSpPr>
        <p:spPr>
          <a:xfrm>
            <a:off x="7315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FFFFFF"/>
                </a:solidFill>
              </a:defRPr>
            </a:pPr>
            <a:r>
              <a:t>Presentation Architecture &amp; Capabilities</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800"/>
              </a:spcAft>
              <a:defRPr sz="1200">
                <a:solidFill>
                  <a:srgbClr val="FFFFFF"/>
                </a:solidFill>
              </a:defRPr>
            </a:pPr>
            <a:r>
              <a:t>• React 18 + TypeScript: High-performance component architecture.</a:t>
            </a:r>
          </a:p>
          <a:p>
            <a:pPr>
              <a:spcAft>
                <a:spcPts val="800"/>
              </a:spcAft>
              <a:defRPr sz="1200">
                <a:solidFill>
                  <a:srgbClr val="FFFFFF"/>
                </a:solidFill>
              </a:defRPr>
            </a:pPr>
            <a:r>
              <a:t>• Split-Pane Citation Engine: Real-time synchronization between narrative text and full SEC 10-K document viewer.</a:t>
            </a:r>
          </a:p>
          <a:p>
            <a:pPr>
              <a:spcAft>
                <a:spcPts val="800"/>
              </a:spcAft>
              <a:defRPr sz="1200">
                <a:solidFill>
                  <a:srgbClr val="FFFFFF"/>
                </a:solidFill>
              </a:defRPr>
            </a:pPr>
            <a:r>
              <a:t>• Source Tracing: Links directly back to Ticker, Fiscal Year, Form 10-K, and Section (Item 7 MD&amp;A).</a:t>
            </a:r>
          </a:p>
          <a:p>
            <a:pPr>
              <a:spcAft>
                <a:spcPts val="800"/>
              </a:spcAft>
              <a:defRPr sz="1200">
                <a:solidFill>
                  <a:srgbClr val="FFFFFF"/>
                </a:solidFill>
              </a:defRPr>
            </a:pPr>
            <a:r>
              <a:t>• HITL Gate Modal: Requires explicit human sign-off before exporting generated reports.</a:t>
            </a:r>
          </a:p>
        </p:txBody>
      </p:sp>
      <p:sp>
        <p:nvSpPr>
          <p:cNvPr id="6" name="Rounded Rectangle 5"/>
          <p:cNvSpPr/>
          <p:nvPr/>
        </p:nvSpPr>
        <p:spPr>
          <a:xfrm>
            <a:off x="62179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FFFFFF"/>
                </a:solidFill>
              </a:defRPr>
            </a:pPr>
            <a:r>
              <a:t>Technical Trade-Off Matrix</a:t>
            </a:r>
          </a:p>
        </p:txBody>
      </p:sp>
      <p:sp>
        <p:nvSpPr>
          <p:cNvPr id="8" name="Rounded Rectangle 7"/>
          <p:cNvSpPr/>
          <p:nvPr/>
        </p:nvSpPr>
        <p:spPr>
          <a:xfrm>
            <a:off x="6400800" y="2194560"/>
            <a:ext cx="4846320" cy="1645920"/>
          </a:xfrm>
          <a:prstGeom prst="roundRect">
            <a:avLst/>
          </a:prstGeom>
          <a:solidFill>
            <a:srgbClr val="14321E"/>
          </a:solidFill>
          <a:ln w="190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377440"/>
            <a:ext cx="4480559" cy="457200"/>
          </a:xfrm>
          <a:prstGeom prst="rect">
            <a:avLst/>
          </a:prstGeom>
          <a:noFill/>
        </p:spPr>
        <p:txBody>
          <a:bodyPr wrap="square">
            <a:spAutoFit/>
          </a:bodyPr>
          <a:lstStyle/>
          <a:p>
            <a:pPr>
              <a:defRPr sz="1600" b="1">
                <a:solidFill>
                  <a:srgbClr val="FFFFFF"/>
                </a:solidFill>
              </a:defRPr>
            </a:pPr>
            <a:r>
              <a:t>Selected Approach: A2UI Protocol</a:t>
            </a:r>
          </a:p>
        </p:txBody>
      </p:sp>
      <p:sp>
        <p:nvSpPr>
          <p:cNvPr id="10" name="TextBox 9"/>
          <p:cNvSpPr txBox="1"/>
          <p:nvPr/>
        </p:nvSpPr>
        <p:spPr>
          <a:xfrm>
            <a:off x="6492240" y="2651760"/>
            <a:ext cx="4663440" cy="1097280"/>
          </a:xfrm>
          <a:prstGeom prst="rect">
            <a:avLst/>
          </a:prstGeom>
          <a:noFill/>
        </p:spPr>
        <p:txBody>
          <a:bodyPr wrap="square" lIns="0" tIns="0" rIns="0" bIns="0">
            <a:spAutoFit/>
          </a:bodyPr>
          <a:lstStyle/>
          <a:p>
            <a:pPr>
              <a:spcAft>
                <a:spcPts val="800"/>
              </a:spcAft>
              <a:defRPr sz="1100">
                <a:solidFill>
                  <a:srgbClr val="FFFFFF"/>
                </a:solidFill>
              </a:defRPr>
            </a:pPr>
            <a:r>
              <a:t>• Emits structured A2UI JSON specs for dynamic tables &amp; bar charts. Low latency, clean UI separation.</a:t>
            </a:r>
          </a:p>
        </p:txBody>
      </p:sp>
      <p:sp>
        <p:nvSpPr>
          <p:cNvPr id="11" name="Rounded Rectangle 10"/>
          <p:cNvSpPr/>
          <p:nvPr/>
        </p:nvSpPr>
        <p:spPr>
          <a:xfrm>
            <a:off x="6400800" y="4023360"/>
            <a:ext cx="4846320" cy="1645920"/>
          </a:xfrm>
          <a:prstGeom prst="roundRect">
            <a:avLst/>
          </a:prstGeom>
          <a:solidFill>
            <a:srgbClr val="321414"/>
          </a:solidFill>
          <a:ln w="19050">
            <a:solidFill>
              <a:srgbClr val="EA4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4206240"/>
            <a:ext cx="4480559" cy="457200"/>
          </a:xfrm>
          <a:prstGeom prst="rect">
            <a:avLst/>
          </a:prstGeom>
          <a:noFill/>
        </p:spPr>
        <p:txBody>
          <a:bodyPr wrap="square">
            <a:spAutoFit/>
          </a:bodyPr>
          <a:lstStyle/>
          <a:p>
            <a:pPr>
              <a:defRPr sz="1600" b="1">
                <a:solidFill>
                  <a:srgbClr val="FFFFFF"/>
                </a:solidFill>
              </a:defRPr>
            </a:pPr>
            <a:r>
              <a:t>Rejected Alternative: Raw Markdown Tables</a:t>
            </a:r>
          </a:p>
        </p:txBody>
      </p:sp>
      <p:sp>
        <p:nvSpPr>
          <p:cNvPr id="13" name="TextBox 12"/>
          <p:cNvSpPr txBox="1"/>
          <p:nvPr/>
        </p:nvSpPr>
        <p:spPr>
          <a:xfrm>
            <a:off x="6492240" y="4480560"/>
            <a:ext cx="4663440" cy="1097280"/>
          </a:xfrm>
          <a:prstGeom prst="rect">
            <a:avLst/>
          </a:prstGeom>
          <a:noFill/>
        </p:spPr>
        <p:txBody>
          <a:bodyPr wrap="square" lIns="0" tIns="0" rIns="0" bIns="0">
            <a:spAutoFit/>
          </a:bodyPr>
          <a:lstStyle/>
          <a:p>
            <a:pPr>
              <a:spcAft>
                <a:spcPts val="800"/>
              </a:spcAft>
              <a:defRPr sz="1100">
                <a:solidFill>
                  <a:srgbClr val="FFFFFF"/>
                </a:solidFill>
              </a:defRPr>
            </a:pPr>
            <a:r>
              <a:t>• Raw markdown tables pollute prompt context, break on long text, and cannot render dynamic charts.</a:t>
            </a:r>
          </a:p>
        </p:txBody>
      </p:sp>
      <p:sp>
        <p:nvSpPr>
          <p:cNvPr id="14" name="Rectangle 13"/>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4285F4"/>
                </a:solidFill>
              </a:defRPr>
            </a:pPr>
            <a:r>
              <a:t>CONFIDENTIAL + PROPRIETARY | GOOGLE CLOUD</a:t>
            </a:r>
          </a:p>
          <a:p>
            <a:pPr>
              <a:spcAft>
                <a:spcPts val="200"/>
              </a:spcAft>
              <a:defRPr sz="2400" b="1">
                <a:solidFill>
                  <a:srgbClr val="FFFFFF"/>
                </a:solidFill>
              </a:defRPr>
            </a:pPr>
            <a:r>
              <a:t>Layer Deep Dive 2 — Agentic Core &amp; ADK Orchestration</a:t>
            </a:r>
          </a:p>
          <a:p>
            <a:pPr>
              <a:defRPr sz="1300">
                <a:solidFill>
                  <a:srgbClr val="4285F4"/>
                </a:solidFill>
              </a:defRPr>
            </a:pPr>
            <a:r>
              <a:t>Google Agent Development Kit (ADK) Supervisor Pattern &amp; Intent Routing</a:t>
            </a:r>
          </a:p>
        </p:txBody>
      </p:sp>
      <p:sp>
        <p:nvSpPr>
          <p:cNvPr id="3" name="Rounded Rectangle 2"/>
          <p:cNvSpPr/>
          <p:nvPr/>
        </p:nvSpPr>
        <p:spPr>
          <a:xfrm>
            <a:off x="7315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FFFFFF"/>
                </a:solidFill>
              </a:defRPr>
            </a:pPr>
            <a:r>
              <a:t>ADK Orchestration Logic</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800"/>
              </a:spcAft>
              <a:defRPr sz="1200">
                <a:solidFill>
                  <a:srgbClr val="FFFFFF"/>
                </a:solidFill>
              </a:defRPr>
            </a:pPr>
            <a:r>
              <a:t>• ADK RootOrchestrator: Built on Google ADK LlmAgent &amp; Runner primitives (agent/root_orchestrator.py).</a:t>
            </a:r>
          </a:p>
          <a:p>
            <a:pPr>
              <a:spcAft>
                <a:spcPts val="800"/>
              </a:spcAft>
              <a:defRPr sz="1200">
                <a:solidFill>
                  <a:srgbClr val="FFFFFF"/>
                </a:solidFill>
              </a:defRPr>
            </a:pPr>
            <a:r>
              <a:t>• Supervisor Pattern: Evaluates user intent and dynamically routes requests to tools and specialized sub-agents.</a:t>
            </a:r>
          </a:p>
          <a:p>
            <a:pPr>
              <a:spcAft>
                <a:spcPts val="800"/>
              </a:spcAft>
              <a:defRPr sz="1200">
                <a:solidFill>
                  <a:srgbClr val="FFFFFF"/>
                </a:solidFill>
              </a:defRPr>
            </a:pPr>
            <a:r>
              <a:t>• Search Sub-Agent Decoupling: Offloads complex qualitative filing searches to agent/subagents/search_subagent.py.</a:t>
            </a:r>
          </a:p>
          <a:p>
            <a:pPr>
              <a:spcAft>
                <a:spcPts val="800"/>
              </a:spcAft>
              <a:defRPr sz="1200">
                <a:solidFill>
                  <a:srgbClr val="FFFFFF"/>
                </a:solidFill>
              </a:defRPr>
            </a:pPr>
            <a:r>
              <a:t>• Persistent Session Storage: Maintains session state across multi-turn user flows without context loss.</a:t>
            </a:r>
          </a:p>
        </p:txBody>
      </p:sp>
      <p:sp>
        <p:nvSpPr>
          <p:cNvPr id="6" name="Rounded Rectangle 5"/>
          <p:cNvSpPr/>
          <p:nvPr/>
        </p:nvSpPr>
        <p:spPr>
          <a:xfrm>
            <a:off x="62179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FFFFFF"/>
                </a:solidFill>
              </a:defRPr>
            </a:pPr>
            <a:r>
              <a:t>Technical Trade-Off Matrix</a:t>
            </a:r>
          </a:p>
        </p:txBody>
      </p:sp>
      <p:sp>
        <p:nvSpPr>
          <p:cNvPr id="8" name="Rounded Rectangle 7"/>
          <p:cNvSpPr/>
          <p:nvPr/>
        </p:nvSpPr>
        <p:spPr>
          <a:xfrm>
            <a:off x="6400800" y="2194560"/>
            <a:ext cx="4846320" cy="1645920"/>
          </a:xfrm>
          <a:prstGeom prst="roundRect">
            <a:avLst/>
          </a:prstGeom>
          <a:solidFill>
            <a:srgbClr val="14321E"/>
          </a:solidFill>
          <a:ln w="190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377440"/>
            <a:ext cx="4480559" cy="457200"/>
          </a:xfrm>
          <a:prstGeom prst="rect">
            <a:avLst/>
          </a:prstGeom>
          <a:noFill/>
        </p:spPr>
        <p:txBody>
          <a:bodyPr wrap="square">
            <a:spAutoFit/>
          </a:bodyPr>
          <a:lstStyle/>
          <a:p>
            <a:pPr>
              <a:defRPr sz="1600" b="1">
                <a:solidFill>
                  <a:srgbClr val="FFFFFF"/>
                </a:solidFill>
              </a:defRPr>
            </a:pPr>
            <a:r>
              <a:t>Selected Approach: ADK Supervisor Pattern</a:t>
            </a:r>
          </a:p>
        </p:txBody>
      </p:sp>
      <p:sp>
        <p:nvSpPr>
          <p:cNvPr id="10" name="TextBox 9"/>
          <p:cNvSpPr txBox="1"/>
          <p:nvPr/>
        </p:nvSpPr>
        <p:spPr>
          <a:xfrm>
            <a:off x="6492240" y="2651760"/>
            <a:ext cx="4663440" cy="1097280"/>
          </a:xfrm>
          <a:prstGeom prst="rect">
            <a:avLst/>
          </a:prstGeom>
          <a:noFill/>
        </p:spPr>
        <p:txBody>
          <a:bodyPr wrap="square" lIns="0" tIns="0" rIns="0" bIns="0">
            <a:spAutoFit/>
          </a:bodyPr>
          <a:lstStyle/>
          <a:p>
            <a:pPr>
              <a:spcAft>
                <a:spcPts val="800"/>
              </a:spcAft>
              <a:defRPr sz="1100">
                <a:solidFill>
                  <a:srgbClr val="FFFFFF"/>
                </a:solidFill>
              </a:defRPr>
            </a:pPr>
            <a:r>
              <a:t>• Modular tool routing, clear agent boundaries, specialized context isolation, &amp; extensible tool registration.</a:t>
            </a:r>
          </a:p>
        </p:txBody>
      </p:sp>
      <p:sp>
        <p:nvSpPr>
          <p:cNvPr id="11" name="Rounded Rectangle 10"/>
          <p:cNvSpPr/>
          <p:nvPr/>
        </p:nvSpPr>
        <p:spPr>
          <a:xfrm>
            <a:off x="6400800" y="4023360"/>
            <a:ext cx="4846320" cy="1645920"/>
          </a:xfrm>
          <a:prstGeom prst="roundRect">
            <a:avLst/>
          </a:prstGeom>
          <a:solidFill>
            <a:srgbClr val="321414"/>
          </a:solidFill>
          <a:ln w="19050">
            <a:solidFill>
              <a:srgbClr val="EA4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4206240"/>
            <a:ext cx="4480559" cy="457200"/>
          </a:xfrm>
          <a:prstGeom prst="rect">
            <a:avLst/>
          </a:prstGeom>
          <a:noFill/>
        </p:spPr>
        <p:txBody>
          <a:bodyPr wrap="square">
            <a:spAutoFit/>
          </a:bodyPr>
          <a:lstStyle/>
          <a:p>
            <a:pPr>
              <a:defRPr sz="1600" b="1">
                <a:solidFill>
                  <a:srgbClr val="FFFFFF"/>
                </a:solidFill>
              </a:defRPr>
            </a:pPr>
            <a:r>
              <a:t>Rejected Alternative: Monolithic Script</a:t>
            </a:r>
          </a:p>
        </p:txBody>
      </p:sp>
      <p:sp>
        <p:nvSpPr>
          <p:cNvPr id="13" name="TextBox 12"/>
          <p:cNvSpPr txBox="1"/>
          <p:nvPr/>
        </p:nvSpPr>
        <p:spPr>
          <a:xfrm>
            <a:off x="6492240" y="4480560"/>
            <a:ext cx="4663440" cy="1097280"/>
          </a:xfrm>
          <a:prstGeom prst="rect">
            <a:avLst/>
          </a:prstGeom>
          <a:noFill/>
        </p:spPr>
        <p:txBody>
          <a:bodyPr wrap="square" lIns="0" tIns="0" rIns="0" bIns="0">
            <a:spAutoFit/>
          </a:bodyPr>
          <a:lstStyle/>
          <a:p>
            <a:pPr>
              <a:spcAft>
                <a:spcPts val="800"/>
              </a:spcAft>
              <a:defRPr sz="1100">
                <a:solidFill>
                  <a:srgbClr val="FFFFFF"/>
                </a:solidFill>
              </a:defRPr>
            </a:pPr>
            <a:r>
              <a:t>• Single monolithic prompts suffer from tool selection confusion, high context contamination, &amp; brittle routing.</a:t>
            </a:r>
          </a:p>
        </p:txBody>
      </p:sp>
      <p:sp>
        <p:nvSpPr>
          <p:cNvPr id="14" name="Rectangle 13"/>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4285F4"/>
                </a:solidFill>
              </a:defRPr>
            </a:pPr>
            <a:r>
              <a:t>CONFIDENTIAL + PROPRIETARY | GOOGLE CLOUD</a:t>
            </a:r>
          </a:p>
          <a:p>
            <a:pPr>
              <a:spcAft>
                <a:spcPts val="200"/>
              </a:spcAft>
              <a:defRPr sz="2400" b="1">
                <a:solidFill>
                  <a:srgbClr val="FFFFFF"/>
                </a:solidFill>
              </a:defRPr>
            </a:pPr>
            <a:r>
              <a:t>Layer Deep Dive 3 — Hybrid Search RAG Layer</a:t>
            </a:r>
          </a:p>
          <a:p>
            <a:pPr>
              <a:defRPr sz="1300">
                <a:solidFill>
                  <a:srgbClr val="4285F4"/>
                </a:solidFill>
              </a:defRPr>
            </a:pPr>
            <a:r>
              <a:t>Dual-Path Retrieval: Merging BigQuery SQL Metrics &amp; Vertex AI Search Vectors</a:t>
            </a:r>
          </a:p>
        </p:txBody>
      </p:sp>
      <p:sp>
        <p:nvSpPr>
          <p:cNvPr id="3" name="Rounded Rectangle 2"/>
          <p:cNvSpPr/>
          <p:nvPr/>
        </p:nvSpPr>
        <p:spPr>
          <a:xfrm>
            <a:off x="7315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FFFFFF"/>
                </a:solidFill>
              </a:defRPr>
            </a:pPr>
            <a:r>
              <a:t>Dual-Path Retrieval Engine</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800"/>
              </a:spcAft>
              <a:defRPr sz="1200">
                <a:solidFill>
                  <a:srgbClr val="FFFFFF"/>
                </a:solidFill>
              </a:defRPr>
            </a:pPr>
            <a:r>
              <a:t>• Path 1 (Structured): BigQuery SQL tool directly queries exact numerical metrics from golden financial tables.</a:t>
            </a:r>
          </a:p>
          <a:p>
            <a:pPr>
              <a:spcAft>
                <a:spcPts val="800"/>
              </a:spcAft>
              <a:defRPr sz="1200">
                <a:solidFill>
                  <a:srgbClr val="FFFFFF"/>
                </a:solidFill>
              </a:defRPr>
            </a:pPr>
            <a:r>
              <a:t>• Path 2 (Unstructured): Vertex AI Search DataStore performs hybrid search (dense semantic vectors + BM25 keyword matching) over 120+ SEC 10-K filings.</a:t>
            </a:r>
          </a:p>
          <a:p>
            <a:pPr>
              <a:spcAft>
                <a:spcPts val="800"/>
              </a:spcAft>
              <a:defRPr sz="1200">
                <a:solidFill>
                  <a:srgbClr val="FFFFFF"/>
                </a:solidFill>
              </a:defRPr>
            </a:pPr>
            <a:r>
              <a:t>• Query Formulation: Strips conversational noise and anchors queries by Ticker and Fiscal Year.</a:t>
            </a:r>
          </a:p>
          <a:p>
            <a:pPr>
              <a:spcAft>
                <a:spcPts val="800"/>
              </a:spcAft>
              <a:defRPr sz="1200">
                <a:solidFill>
                  <a:srgbClr val="FFFFFF"/>
                </a:solidFill>
              </a:defRPr>
            </a:pPr>
            <a:r>
              <a:t>• Parallel Highlighting: Orchestrates LLM calls to annotate exact source excerpts with &lt;mark&gt; tags.</a:t>
            </a:r>
          </a:p>
        </p:txBody>
      </p:sp>
      <p:sp>
        <p:nvSpPr>
          <p:cNvPr id="6" name="Rounded Rectangle 5"/>
          <p:cNvSpPr/>
          <p:nvPr/>
        </p:nvSpPr>
        <p:spPr>
          <a:xfrm>
            <a:off x="62179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FFFFFF"/>
                </a:solidFill>
              </a:defRPr>
            </a:pPr>
            <a:r>
              <a:t>Technical Trade-Off Matrix</a:t>
            </a:r>
          </a:p>
        </p:txBody>
      </p:sp>
      <p:sp>
        <p:nvSpPr>
          <p:cNvPr id="8" name="Rounded Rectangle 7"/>
          <p:cNvSpPr/>
          <p:nvPr/>
        </p:nvSpPr>
        <p:spPr>
          <a:xfrm>
            <a:off x="6400800" y="2194560"/>
            <a:ext cx="4846320" cy="1645920"/>
          </a:xfrm>
          <a:prstGeom prst="roundRect">
            <a:avLst/>
          </a:prstGeom>
          <a:solidFill>
            <a:srgbClr val="14321E"/>
          </a:solidFill>
          <a:ln w="190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377440"/>
            <a:ext cx="4480559" cy="457200"/>
          </a:xfrm>
          <a:prstGeom prst="rect">
            <a:avLst/>
          </a:prstGeom>
          <a:noFill/>
        </p:spPr>
        <p:txBody>
          <a:bodyPr wrap="square">
            <a:spAutoFit/>
          </a:bodyPr>
          <a:lstStyle/>
          <a:p>
            <a:pPr>
              <a:defRPr sz="1600" b="1">
                <a:solidFill>
                  <a:srgbClr val="FFFFFF"/>
                </a:solidFill>
              </a:defRPr>
            </a:pPr>
            <a:r>
              <a:t>Selected: Hybrid (BigQuery SQL + Vertex AI Search)</a:t>
            </a:r>
          </a:p>
        </p:txBody>
      </p:sp>
      <p:sp>
        <p:nvSpPr>
          <p:cNvPr id="10" name="TextBox 9"/>
          <p:cNvSpPr txBox="1"/>
          <p:nvPr/>
        </p:nvSpPr>
        <p:spPr>
          <a:xfrm>
            <a:off x="6492240" y="2651760"/>
            <a:ext cx="4663440" cy="1097280"/>
          </a:xfrm>
          <a:prstGeom prst="rect">
            <a:avLst/>
          </a:prstGeom>
          <a:noFill/>
        </p:spPr>
        <p:txBody>
          <a:bodyPr wrap="square" lIns="0" tIns="0" rIns="0" bIns="0">
            <a:spAutoFit/>
          </a:bodyPr>
          <a:lstStyle/>
          <a:p>
            <a:pPr>
              <a:spcAft>
                <a:spcPts val="800"/>
              </a:spcAft>
              <a:defRPr sz="1100">
                <a:solidFill>
                  <a:srgbClr val="FFFFFF"/>
                </a:solidFill>
              </a:defRPr>
            </a:pPr>
            <a:r>
              <a:t>• Combines high-precision quantitative metrics from SQL with rich qualitative narrative context from 10-K vectors.</a:t>
            </a:r>
          </a:p>
        </p:txBody>
      </p:sp>
      <p:sp>
        <p:nvSpPr>
          <p:cNvPr id="11" name="Rounded Rectangle 10"/>
          <p:cNvSpPr/>
          <p:nvPr/>
        </p:nvSpPr>
        <p:spPr>
          <a:xfrm>
            <a:off x="6400800" y="4023360"/>
            <a:ext cx="4846320" cy="1645920"/>
          </a:xfrm>
          <a:prstGeom prst="roundRect">
            <a:avLst/>
          </a:prstGeom>
          <a:solidFill>
            <a:srgbClr val="321414"/>
          </a:solidFill>
          <a:ln w="19050">
            <a:solidFill>
              <a:srgbClr val="EA4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4206240"/>
            <a:ext cx="4480559" cy="457200"/>
          </a:xfrm>
          <a:prstGeom prst="rect">
            <a:avLst/>
          </a:prstGeom>
          <a:noFill/>
        </p:spPr>
        <p:txBody>
          <a:bodyPr wrap="square">
            <a:spAutoFit/>
          </a:bodyPr>
          <a:lstStyle/>
          <a:p>
            <a:pPr>
              <a:defRPr sz="1600" b="1">
                <a:solidFill>
                  <a:srgbClr val="FFFFFF"/>
                </a:solidFill>
              </a:defRPr>
            </a:pPr>
            <a:r>
              <a:t>Rejected Alternative: Pure Vector Retrieval</a:t>
            </a:r>
          </a:p>
        </p:txBody>
      </p:sp>
      <p:sp>
        <p:nvSpPr>
          <p:cNvPr id="13" name="TextBox 12"/>
          <p:cNvSpPr txBox="1"/>
          <p:nvPr/>
        </p:nvSpPr>
        <p:spPr>
          <a:xfrm>
            <a:off x="6492240" y="4480560"/>
            <a:ext cx="4663440" cy="1097280"/>
          </a:xfrm>
          <a:prstGeom prst="rect">
            <a:avLst/>
          </a:prstGeom>
          <a:noFill/>
        </p:spPr>
        <p:txBody>
          <a:bodyPr wrap="square" lIns="0" tIns="0" rIns="0" bIns="0">
            <a:spAutoFit/>
          </a:bodyPr>
          <a:lstStyle/>
          <a:p>
            <a:pPr>
              <a:spcAft>
                <a:spcPts val="800"/>
              </a:spcAft>
              <a:defRPr sz="1100">
                <a:solidFill>
                  <a:srgbClr val="FFFFFF"/>
                </a:solidFill>
              </a:defRPr>
            </a:pPr>
            <a:r>
              <a:t>• Pure vector search struggles with exact tabular metric lookups and risks retrieving outdated fiscal year rows.</a:t>
            </a:r>
          </a:p>
        </p:txBody>
      </p:sp>
      <p:sp>
        <p:nvSpPr>
          <p:cNvPr id="14" name="Rectangle 13"/>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4285F4"/>
                </a:solidFill>
              </a:defRPr>
            </a:pPr>
            <a:r>
              <a:t>CONFIDENTIAL + PROPRIETARY | GOOGLE CLOUD</a:t>
            </a:r>
          </a:p>
          <a:p>
            <a:pPr>
              <a:spcAft>
                <a:spcPts val="200"/>
              </a:spcAft>
              <a:defRPr sz="2400" b="1">
                <a:solidFill>
                  <a:srgbClr val="FFFFFF"/>
                </a:solidFill>
              </a:defRPr>
            </a:pPr>
            <a:r>
              <a:t>Layer Deep Dive 4 — Decoupled Deterministic Math Engine</a:t>
            </a:r>
          </a:p>
          <a:p>
            <a:pPr>
              <a:defRPr sz="1300">
                <a:solidFill>
                  <a:srgbClr val="4285F4"/>
                </a:solidFill>
              </a:defRPr>
            </a:pPr>
            <a:r>
              <a:t>Sandboxed Python Code Execution for Zero-LLM Numerical Calculations</a:t>
            </a:r>
          </a:p>
        </p:txBody>
      </p:sp>
      <p:sp>
        <p:nvSpPr>
          <p:cNvPr id="3" name="Rounded Rectangle 2"/>
          <p:cNvSpPr/>
          <p:nvPr/>
        </p:nvSpPr>
        <p:spPr>
          <a:xfrm>
            <a:off x="7315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FFFFFF"/>
                </a:solidFill>
              </a:defRPr>
            </a:pPr>
            <a:r>
              <a:t>Zero-LLM Math Approach &amp; Safeguards</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800"/>
              </a:spcAft>
              <a:defRPr sz="1200">
                <a:solidFill>
                  <a:srgbClr val="FFFFFF"/>
                </a:solidFill>
              </a:defRPr>
            </a:pPr>
            <a:r>
              <a:t>• Sandboxed Execution: agent/tools/calculation_engine.py executes all variance, % delta, and margin calculations in Python.</a:t>
            </a:r>
          </a:p>
          <a:p>
            <a:pPr>
              <a:spcAft>
                <a:spcPts val="800"/>
              </a:spcAft>
              <a:defRPr sz="1200">
                <a:solidFill>
                  <a:srgbClr val="FFFFFF"/>
                </a:solidFill>
              </a:defRPr>
            </a:pPr>
            <a:r>
              <a:t>• Zero LLM Arithmetic: LLM handles intent reasoning; deterministic code handles math execution.</a:t>
            </a:r>
          </a:p>
          <a:p>
            <a:pPr>
              <a:spcAft>
                <a:spcPts val="800"/>
              </a:spcAft>
              <a:defRPr sz="1200">
                <a:solidFill>
                  <a:srgbClr val="FFFFFF"/>
                </a:solidFill>
              </a:defRPr>
            </a:pPr>
            <a:r>
              <a:t>• Division-by-Zero Traps: Automated error trapping and Inf/Null handling for sparse financial datasets.</a:t>
            </a:r>
          </a:p>
          <a:p>
            <a:pPr>
              <a:spcAft>
                <a:spcPts val="800"/>
              </a:spcAft>
              <a:defRPr sz="1200">
                <a:solidFill>
                  <a:srgbClr val="FFFFFF"/>
                </a:solidFill>
              </a:defRPr>
            </a:pPr>
            <a:r>
              <a:t>• Negative Baseline Handling: Adjusted normalization logic for meaningful YoY variance analysis.</a:t>
            </a:r>
          </a:p>
        </p:txBody>
      </p:sp>
      <p:sp>
        <p:nvSpPr>
          <p:cNvPr id="6" name="Rounded Rectangle 5"/>
          <p:cNvSpPr/>
          <p:nvPr/>
        </p:nvSpPr>
        <p:spPr>
          <a:xfrm>
            <a:off x="62179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FFFFFF"/>
                </a:solidFill>
              </a:defRPr>
            </a:pPr>
            <a:r>
              <a:t>Technical Trade-Off Matrix</a:t>
            </a:r>
          </a:p>
        </p:txBody>
      </p:sp>
      <p:sp>
        <p:nvSpPr>
          <p:cNvPr id="8" name="Rounded Rectangle 7"/>
          <p:cNvSpPr/>
          <p:nvPr/>
        </p:nvSpPr>
        <p:spPr>
          <a:xfrm>
            <a:off x="6400800" y="2194560"/>
            <a:ext cx="4846320" cy="1645920"/>
          </a:xfrm>
          <a:prstGeom prst="roundRect">
            <a:avLst/>
          </a:prstGeom>
          <a:solidFill>
            <a:srgbClr val="14321E"/>
          </a:solidFill>
          <a:ln w="190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377440"/>
            <a:ext cx="4480559" cy="457200"/>
          </a:xfrm>
          <a:prstGeom prst="rect">
            <a:avLst/>
          </a:prstGeom>
          <a:noFill/>
        </p:spPr>
        <p:txBody>
          <a:bodyPr wrap="square">
            <a:spAutoFit/>
          </a:bodyPr>
          <a:lstStyle/>
          <a:p>
            <a:pPr>
              <a:defRPr sz="1600" b="1">
                <a:solidFill>
                  <a:srgbClr val="FFFFFF"/>
                </a:solidFill>
              </a:defRPr>
            </a:pPr>
            <a:r>
              <a:t>Selected: Sandboxed Python Execution Engine</a:t>
            </a:r>
          </a:p>
        </p:txBody>
      </p:sp>
      <p:sp>
        <p:nvSpPr>
          <p:cNvPr id="10" name="TextBox 9"/>
          <p:cNvSpPr txBox="1"/>
          <p:nvPr/>
        </p:nvSpPr>
        <p:spPr>
          <a:xfrm>
            <a:off x="6492240" y="2651760"/>
            <a:ext cx="4663440" cy="1097280"/>
          </a:xfrm>
          <a:prstGeom prst="rect">
            <a:avLst/>
          </a:prstGeom>
          <a:noFill/>
        </p:spPr>
        <p:txBody>
          <a:bodyPr wrap="square" lIns="0" tIns="0" rIns="0" bIns="0">
            <a:spAutoFit/>
          </a:bodyPr>
          <a:lstStyle/>
          <a:p>
            <a:pPr>
              <a:spcAft>
                <a:spcPts val="800"/>
              </a:spcAft>
              <a:defRPr sz="1100">
                <a:solidFill>
                  <a:srgbClr val="FFFFFF"/>
                </a:solidFill>
              </a:defRPr>
            </a:pPr>
            <a:r>
              <a:t>• Achieves 100% computational accuracy, zero hallucinated digits, &amp; complete mathematical auditability.</a:t>
            </a:r>
          </a:p>
        </p:txBody>
      </p:sp>
      <p:sp>
        <p:nvSpPr>
          <p:cNvPr id="11" name="Rounded Rectangle 10"/>
          <p:cNvSpPr/>
          <p:nvPr/>
        </p:nvSpPr>
        <p:spPr>
          <a:xfrm>
            <a:off x="6400800" y="4023360"/>
            <a:ext cx="4846320" cy="1645920"/>
          </a:xfrm>
          <a:prstGeom prst="roundRect">
            <a:avLst/>
          </a:prstGeom>
          <a:solidFill>
            <a:srgbClr val="321414"/>
          </a:solidFill>
          <a:ln w="19050">
            <a:solidFill>
              <a:srgbClr val="EA4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4206240"/>
            <a:ext cx="4480559" cy="457200"/>
          </a:xfrm>
          <a:prstGeom prst="rect">
            <a:avLst/>
          </a:prstGeom>
          <a:noFill/>
        </p:spPr>
        <p:txBody>
          <a:bodyPr wrap="square">
            <a:spAutoFit/>
          </a:bodyPr>
          <a:lstStyle/>
          <a:p>
            <a:pPr>
              <a:defRPr sz="1600" b="1">
                <a:solidFill>
                  <a:srgbClr val="FFFFFF"/>
                </a:solidFill>
              </a:defRPr>
            </a:pPr>
            <a:r>
              <a:t>Rejected Alternative: LLM Arithmetic Reasoning</a:t>
            </a:r>
          </a:p>
        </p:txBody>
      </p:sp>
      <p:sp>
        <p:nvSpPr>
          <p:cNvPr id="13" name="TextBox 12"/>
          <p:cNvSpPr txBox="1"/>
          <p:nvPr/>
        </p:nvSpPr>
        <p:spPr>
          <a:xfrm>
            <a:off x="6492240" y="4480560"/>
            <a:ext cx="4663440" cy="1097280"/>
          </a:xfrm>
          <a:prstGeom prst="rect">
            <a:avLst/>
          </a:prstGeom>
          <a:noFill/>
        </p:spPr>
        <p:txBody>
          <a:bodyPr wrap="square" lIns="0" tIns="0" rIns="0" bIns="0">
            <a:spAutoFit/>
          </a:bodyPr>
          <a:lstStyle/>
          <a:p>
            <a:pPr>
              <a:spcAft>
                <a:spcPts val="800"/>
              </a:spcAft>
              <a:defRPr sz="1100">
                <a:solidFill>
                  <a:srgbClr val="FFFFFF"/>
                </a:solidFill>
              </a:defRPr>
            </a:pPr>
            <a:r>
              <a:t>• Probabilistic LLM arithmetic introduces floating-point errors, incorrect signs, &amp; hallucinated financial outputs.</a:t>
            </a:r>
          </a:p>
        </p:txBody>
      </p:sp>
      <p:sp>
        <p:nvSpPr>
          <p:cNvPr id="14" name="Rectangle 13"/>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4285F4"/>
                </a:solidFill>
              </a:defRPr>
            </a:pPr>
            <a:r>
              <a:t>CONFIDENTIAL + PROPRIETARY | GOOGLE CLOUD</a:t>
            </a:r>
          </a:p>
          <a:p>
            <a:pPr>
              <a:spcAft>
                <a:spcPts val="200"/>
              </a:spcAft>
              <a:defRPr sz="2400" b="1">
                <a:solidFill>
                  <a:srgbClr val="FFFFFF"/>
                </a:solidFill>
              </a:defRPr>
            </a:pPr>
            <a:r>
              <a:t>Layer Deep Dive 5 — Security Perimeter &amp; Model Armor Integration</a:t>
            </a:r>
          </a:p>
          <a:p>
            <a:pPr>
              <a:defRPr sz="1300">
                <a:solidFill>
                  <a:srgbClr val="4285F4"/>
                </a:solidFill>
              </a:defRPr>
            </a:pPr>
            <a:r>
              <a:t>Multi-Layered Defense-in-Depth for Enterprise Compliance</a:t>
            </a:r>
          </a:p>
        </p:txBody>
      </p:sp>
      <p:sp>
        <p:nvSpPr>
          <p:cNvPr id="3" name="Rounded Rectangle 2"/>
          <p:cNvSpPr/>
          <p:nvPr/>
        </p:nvSpPr>
        <p:spPr>
          <a:xfrm>
            <a:off x="7315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FFFFFF"/>
                </a:solidFill>
              </a:defRPr>
            </a:pPr>
            <a:r>
              <a:t>Security Infrastructure</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800"/>
              </a:spcAft>
              <a:defRPr sz="1200">
                <a:solidFill>
                  <a:srgbClr val="FFFFFF"/>
                </a:solidFill>
              </a:defRPr>
            </a:pPr>
            <a:r>
              <a:t>• VPC Service Controls (VPC-SC): Isolated security perimeter preventing data exfiltration to public networks.</a:t>
            </a:r>
          </a:p>
          <a:p>
            <a:pPr>
              <a:spcAft>
                <a:spcPts val="800"/>
              </a:spcAft>
              <a:defRPr sz="1200">
                <a:solidFill>
                  <a:srgbClr val="FFFFFF"/>
                </a:solidFill>
              </a:defRPr>
            </a:pPr>
            <a:r>
              <a:t>• Model Armor Callbacks: Ingress and egress hooks inspecting prompts for adversarial jailbreaks and indirect injection.</a:t>
            </a:r>
          </a:p>
          <a:p>
            <a:pPr>
              <a:spcAft>
                <a:spcPts val="800"/>
              </a:spcAft>
              <a:defRPr sz="1200">
                <a:solidFill>
                  <a:srgbClr val="FFFFFF"/>
                </a:solidFill>
              </a:defRPr>
            </a:pPr>
            <a:r>
              <a:t>• DLP PII Scrubber: Real-time redaction of sensitive personal identifiable information.</a:t>
            </a:r>
          </a:p>
          <a:p>
            <a:pPr>
              <a:spcAft>
                <a:spcPts val="800"/>
              </a:spcAft>
              <a:defRPr sz="1200">
                <a:solidFill>
                  <a:srgbClr val="FFFFFF"/>
                </a:solidFill>
              </a:defRPr>
            </a:pPr>
            <a:r>
              <a:t>• Least Privilege IAM: Enforces sec-analyst-sa service account permissions with granular role bindings.</a:t>
            </a:r>
          </a:p>
        </p:txBody>
      </p:sp>
      <p:sp>
        <p:nvSpPr>
          <p:cNvPr id="6" name="Rounded Rectangle 5"/>
          <p:cNvSpPr/>
          <p:nvPr/>
        </p:nvSpPr>
        <p:spPr>
          <a:xfrm>
            <a:off x="62179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FFFFFF"/>
                </a:solidFill>
              </a:defRPr>
            </a:pPr>
            <a:r>
              <a:t>Technical Trade-Off Matrix</a:t>
            </a:r>
          </a:p>
        </p:txBody>
      </p:sp>
      <p:sp>
        <p:nvSpPr>
          <p:cNvPr id="8" name="Rounded Rectangle 7"/>
          <p:cNvSpPr/>
          <p:nvPr/>
        </p:nvSpPr>
        <p:spPr>
          <a:xfrm>
            <a:off x="6400800" y="2194560"/>
            <a:ext cx="4846320" cy="1645920"/>
          </a:xfrm>
          <a:prstGeom prst="roundRect">
            <a:avLst/>
          </a:prstGeom>
          <a:solidFill>
            <a:srgbClr val="14321E"/>
          </a:solidFill>
          <a:ln w="190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377440"/>
            <a:ext cx="4480559" cy="457200"/>
          </a:xfrm>
          <a:prstGeom prst="rect">
            <a:avLst/>
          </a:prstGeom>
          <a:noFill/>
        </p:spPr>
        <p:txBody>
          <a:bodyPr wrap="square">
            <a:spAutoFit/>
          </a:bodyPr>
          <a:lstStyle/>
          <a:p>
            <a:pPr>
              <a:defRPr sz="1600" b="1">
                <a:solidFill>
                  <a:srgbClr val="FFFFFF"/>
                </a:solidFill>
              </a:defRPr>
            </a:pPr>
            <a:r>
              <a:t>Selected: VPC-SC + Model Armor + HITL Gate</a:t>
            </a:r>
          </a:p>
        </p:txBody>
      </p:sp>
      <p:sp>
        <p:nvSpPr>
          <p:cNvPr id="10" name="TextBox 9"/>
          <p:cNvSpPr txBox="1"/>
          <p:nvPr/>
        </p:nvSpPr>
        <p:spPr>
          <a:xfrm>
            <a:off x="6492240" y="2651760"/>
            <a:ext cx="4663440" cy="1097280"/>
          </a:xfrm>
          <a:prstGeom prst="rect">
            <a:avLst/>
          </a:prstGeom>
          <a:noFill/>
        </p:spPr>
        <p:txBody>
          <a:bodyPr wrap="square" lIns="0" tIns="0" rIns="0" bIns="0">
            <a:spAutoFit/>
          </a:bodyPr>
          <a:lstStyle/>
          <a:p>
            <a:pPr>
              <a:spcAft>
                <a:spcPts val="800"/>
              </a:spcAft>
              <a:defRPr sz="1100">
                <a:solidFill>
                  <a:srgbClr val="FFFFFF"/>
                </a:solidFill>
              </a:defRPr>
            </a:pPr>
            <a:r>
              <a:t>• Enterprise-grade defense-in-depth, proactive jailbreak blocking, &amp; strict human sign-off on report exports.</a:t>
            </a:r>
          </a:p>
        </p:txBody>
      </p:sp>
      <p:sp>
        <p:nvSpPr>
          <p:cNvPr id="11" name="Rounded Rectangle 10"/>
          <p:cNvSpPr/>
          <p:nvPr/>
        </p:nvSpPr>
        <p:spPr>
          <a:xfrm>
            <a:off x="6400800" y="4023360"/>
            <a:ext cx="4846320" cy="1645920"/>
          </a:xfrm>
          <a:prstGeom prst="roundRect">
            <a:avLst/>
          </a:prstGeom>
          <a:solidFill>
            <a:srgbClr val="321414"/>
          </a:solidFill>
          <a:ln w="19050">
            <a:solidFill>
              <a:srgbClr val="EA4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4206240"/>
            <a:ext cx="4480559" cy="457200"/>
          </a:xfrm>
          <a:prstGeom prst="rect">
            <a:avLst/>
          </a:prstGeom>
          <a:noFill/>
        </p:spPr>
        <p:txBody>
          <a:bodyPr wrap="square">
            <a:spAutoFit/>
          </a:bodyPr>
          <a:lstStyle/>
          <a:p>
            <a:pPr>
              <a:defRPr sz="1600" b="1">
                <a:solidFill>
                  <a:srgbClr val="FFFFFF"/>
                </a:solidFill>
              </a:defRPr>
            </a:pPr>
            <a:r>
              <a:t>Rejected Alternative: Direct Public API Access</a:t>
            </a:r>
          </a:p>
        </p:txBody>
      </p:sp>
      <p:sp>
        <p:nvSpPr>
          <p:cNvPr id="13" name="TextBox 12"/>
          <p:cNvSpPr txBox="1"/>
          <p:nvPr/>
        </p:nvSpPr>
        <p:spPr>
          <a:xfrm>
            <a:off x="6492240" y="4480560"/>
            <a:ext cx="4663440" cy="1097280"/>
          </a:xfrm>
          <a:prstGeom prst="rect">
            <a:avLst/>
          </a:prstGeom>
          <a:noFill/>
        </p:spPr>
        <p:txBody>
          <a:bodyPr wrap="square" lIns="0" tIns="0" rIns="0" bIns="0">
            <a:spAutoFit/>
          </a:bodyPr>
          <a:lstStyle/>
          <a:p>
            <a:pPr>
              <a:spcAft>
                <a:spcPts val="800"/>
              </a:spcAft>
              <a:defRPr sz="1100">
                <a:solidFill>
                  <a:srgbClr val="FFFFFF"/>
                </a:solidFill>
              </a:defRPr>
            </a:pPr>
            <a:r>
              <a:t>• Public API endpoints expose systems to prompt injection, data exfiltration, &amp; unmonitored model outputs.</a:t>
            </a:r>
          </a:p>
        </p:txBody>
      </p:sp>
      <p:sp>
        <p:nvSpPr>
          <p:cNvPr id="14" name="Rectangle 13"/>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4285F4"/>
                </a:solidFill>
              </a:defRPr>
            </a:pPr>
            <a:r>
              <a:t>CONFIDENTIAL + PROPRIETARY | GOOGLE CLOUD</a:t>
            </a:r>
          </a:p>
          <a:p>
            <a:pPr>
              <a:spcAft>
                <a:spcPts val="200"/>
              </a:spcAft>
              <a:defRPr sz="2400" b="1">
                <a:solidFill>
                  <a:srgbClr val="FFFFFF"/>
                </a:solidFill>
              </a:defRPr>
            </a:pPr>
            <a:r>
              <a:t>Evaluation Architecture — Dual-Track Auditing Framework</a:t>
            </a:r>
          </a:p>
          <a:p>
            <a:pPr>
              <a:defRPr sz="1300">
                <a:solidFill>
                  <a:srgbClr val="4285F4"/>
                </a:solidFill>
              </a:defRPr>
            </a:pPr>
            <a:r>
              <a:t>Combining Deterministic Math Verification with LLM-as-a-Judge</a:t>
            </a:r>
          </a:p>
        </p:txBody>
      </p:sp>
      <p:sp>
        <p:nvSpPr>
          <p:cNvPr id="3" name="Rounded Rectangle 2"/>
          <p:cNvSpPr/>
          <p:nvPr/>
        </p:nvSpPr>
        <p:spPr>
          <a:xfrm>
            <a:off x="7315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FFFFFF"/>
                </a:solidFill>
              </a:defRPr>
            </a:pPr>
            <a:r>
              <a:t>Track 1: Math Assertions</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800"/>
              </a:spcAft>
              <a:defRPr sz="1200">
                <a:solidFill>
                  <a:srgbClr val="FFFFFF"/>
                </a:solidFill>
              </a:defRPr>
            </a:pPr>
            <a:r>
              <a:t>• Deterministic Verification: Automated verification of numerical outputs and percentage delta calculations.</a:t>
            </a:r>
          </a:p>
          <a:p>
            <a:pPr>
              <a:spcAft>
                <a:spcPts val="800"/>
              </a:spcAft>
              <a:defRPr sz="1200">
                <a:solidFill>
                  <a:srgbClr val="FFFFFF"/>
                </a:solidFill>
              </a:defRPr>
            </a:pPr>
            <a:r>
              <a:t>• Range &amp; Bound Constraints: Enforces non-negative constraints on absolute metrics.</a:t>
            </a:r>
          </a:p>
          <a:p>
            <a:pPr>
              <a:spcAft>
                <a:spcPts val="800"/>
              </a:spcAft>
              <a:defRPr sz="1200">
                <a:solidFill>
                  <a:srgbClr val="FFFFFF"/>
                </a:solidFill>
              </a:defRPr>
            </a:pPr>
            <a:r>
              <a:t>• Cross-Statement Consistency: Validates that balance sheet totals match cash flow starting figures.</a:t>
            </a:r>
          </a:p>
          <a:p>
            <a:pPr>
              <a:spcAft>
                <a:spcPts val="800"/>
              </a:spcAft>
              <a:defRPr sz="1200">
                <a:solidFill>
                  <a:srgbClr val="FFFFFF"/>
                </a:solidFill>
              </a:defRPr>
            </a:pPr>
            <a:r>
              <a:t>• Pass Rate: 100% Pass Rate across evaluation test suites.</a:t>
            </a:r>
          </a:p>
        </p:txBody>
      </p:sp>
      <p:sp>
        <p:nvSpPr>
          <p:cNvPr id="6" name="Rounded Rectangle 5"/>
          <p:cNvSpPr/>
          <p:nvPr/>
        </p:nvSpPr>
        <p:spPr>
          <a:xfrm>
            <a:off x="6217920" y="1645920"/>
            <a:ext cx="5212080" cy="4389120"/>
          </a:xfrm>
          <a:prstGeom prst="roundRect">
            <a:avLst/>
          </a:prstGeom>
          <a:solidFill>
            <a:srgbClr val="1E293B"/>
          </a:solidFill>
          <a:ln w="1905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FFFFFF"/>
                </a:solidFill>
              </a:defRPr>
            </a:pPr>
            <a:r>
              <a:t>Track 2: Gemini 2.5 Flash Judge</a:t>
            </a:r>
          </a:p>
        </p:txBody>
      </p:sp>
      <p:sp>
        <p:nvSpPr>
          <p:cNvPr id="8" name="TextBox 7"/>
          <p:cNvSpPr txBox="1"/>
          <p:nvPr/>
        </p:nvSpPr>
        <p:spPr>
          <a:xfrm>
            <a:off x="6400800" y="2286000"/>
            <a:ext cx="4846320" cy="3474720"/>
          </a:xfrm>
          <a:prstGeom prst="rect">
            <a:avLst/>
          </a:prstGeom>
          <a:noFill/>
        </p:spPr>
        <p:txBody>
          <a:bodyPr wrap="square" lIns="0" tIns="0" rIns="0" bIns="0">
            <a:spAutoFit/>
          </a:bodyPr>
          <a:lstStyle/>
          <a:p>
            <a:pPr>
              <a:spcAft>
                <a:spcPts val="800"/>
              </a:spcAft>
              <a:defRPr sz="1200">
                <a:solidFill>
                  <a:srgbClr val="FFFFFF"/>
                </a:solidFill>
              </a:defRPr>
            </a:pPr>
            <a:r>
              <a:t>• Semantic Quality Auditing: Evaluates narrative reasoning paths and qualitative completeness.</a:t>
            </a:r>
          </a:p>
          <a:p>
            <a:pPr>
              <a:spcAft>
                <a:spcPts val="800"/>
              </a:spcAft>
              <a:defRPr sz="1200">
                <a:solidFill>
                  <a:srgbClr val="FFFFFF"/>
                </a:solidFill>
              </a:defRPr>
            </a:pPr>
            <a:r>
              <a:t>• Grounded Citation Exactness: Measures precision and recall of cited 10-K paragraph excerpts.</a:t>
            </a:r>
          </a:p>
          <a:p>
            <a:pPr>
              <a:spcAft>
                <a:spcPts val="800"/>
              </a:spcAft>
              <a:defRPr sz="1200">
                <a:solidFill>
                  <a:srgbClr val="FFFFFF"/>
                </a:solidFill>
              </a:defRPr>
            </a:pPr>
            <a:r>
              <a:t>• Trajectory Quality: Evaluates step-by-step tool selection logic in ADK RootOrchestrator.</a:t>
            </a:r>
          </a:p>
          <a:p>
            <a:pPr>
              <a:spcAft>
                <a:spcPts val="800"/>
              </a:spcAft>
              <a:defRPr sz="1200">
                <a:solidFill>
                  <a:srgbClr val="FFFFFF"/>
                </a:solidFill>
              </a:defRPr>
            </a:pPr>
            <a:r>
              <a:t>• Explainable Verdicts: Judge model generates structured JSON verdicts with reasoning notes.</a:t>
            </a:r>
          </a:p>
        </p:txBody>
      </p:sp>
      <p:sp>
        <p:nvSpPr>
          <p:cNvPr id="9" name="Rectangle 8"/>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4285F4"/>
                </a:solidFill>
              </a:defRPr>
            </a:pPr>
            <a:r>
              <a:t>CONFIDENTIAL + PROPRIETARY | GOOGLE CLOUD</a:t>
            </a:r>
          </a:p>
          <a:p>
            <a:pPr>
              <a:spcAft>
                <a:spcPts val="200"/>
              </a:spcAft>
              <a:defRPr sz="2400" b="1">
                <a:solidFill>
                  <a:srgbClr val="FFFFFF"/>
                </a:solidFill>
              </a:defRPr>
            </a:pPr>
            <a:r>
              <a:t>ADK Evaluation Harness &amp; Golden Dataset Benchmark</a:t>
            </a:r>
          </a:p>
          <a:p>
            <a:pPr>
              <a:defRPr sz="1300">
                <a:solidFill>
                  <a:srgbClr val="4285F4"/>
                </a:solidFill>
              </a:defRPr>
            </a:pPr>
            <a:r>
              <a:t>Automated Pytest Suite Execution against Curated SEC Test Cases</a:t>
            </a:r>
          </a:p>
        </p:txBody>
      </p:sp>
      <p:sp>
        <p:nvSpPr>
          <p:cNvPr id="3" name="Rounded Rectangle 2"/>
          <p:cNvSpPr/>
          <p:nvPr/>
        </p:nvSpPr>
        <p:spPr>
          <a:xfrm>
            <a:off x="7315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FFFFFF"/>
                </a:solidFill>
              </a:defRPr>
            </a:pPr>
            <a:r>
              <a:t>Eval Harness Architecture (eval/run_benchmark.py)</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800"/>
              </a:spcAft>
              <a:defRPr sz="1200">
                <a:solidFill>
                  <a:srgbClr val="FFFFFF"/>
                </a:solidFill>
              </a:defRPr>
            </a:pPr>
            <a:r>
              <a:t>• Golden Dataset: eval/golden_dataset.json containing 100+ curated financial Q&amp;A ground-truth pairs.</a:t>
            </a:r>
          </a:p>
          <a:p>
            <a:pPr>
              <a:spcAft>
                <a:spcPts val="800"/>
              </a:spcAft>
              <a:defRPr sz="1200">
                <a:solidFill>
                  <a:srgbClr val="FFFFFF"/>
                </a:solidFill>
              </a:defRPr>
            </a:pPr>
            <a:r>
              <a:t>• Automated Runner: eval/run_benchmark.py executes end-to-end agent trajectories against test cases.</a:t>
            </a:r>
          </a:p>
          <a:p>
            <a:pPr>
              <a:spcAft>
                <a:spcPts val="800"/>
              </a:spcAft>
              <a:defRPr sz="1200">
                <a:solidFill>
                  <a:srgbClr val="FFFFFF"/>
                </a:solidFill>
              </a:defRPr>
            </a:pPr>
            <a:r>
              <a:t>• Metrics Extracted: Math accuracy, grounded recall, ROUGE-L F1, LLM faithfulness, and execution latency.</a:t>
            </a:r>
          </a:p>
          <a:p>
            <a:pPr>
              <a:spcAft>
                <a:spcPts val="800"/>
              </a:spcAft>
              <a:defRPr sz="1200">
                <a:solidFill>
                  <a:srgbClr val="FFFFFF"/>
                </a:solidFill>
              </a:defRPr>
            </a:pPr>
            <a:r>
              <a:t>• Regression Lock: Automated pytest assertions block pull requests if evaluation scores drop.</a:t>
            </a:r>
          </a:p>
        </p:txBody>
      </p:sp>
      <p:sp>
        <p:nvSpPr>
          <p:cNvPr id="6" name="Rounded Rectangle 5"/>
          <p:cNvSpPr/>
          <p:nvPr/>
        </p:nvSpPr>
        <p:spPr>
          <a:xfrm>
            <a:off x="6217920" y="1645920"/>
            <a:ext cx="5212080" cy="4389120"/>
          </a:xfrm>
          <a:prstGeom prst="roundRect">
            <a:avLst/>
          </a:prstGeom>
          <a:solidFill>
            <a:srgbClr val="1E293B"/>
          </a:solidFill>
          <a:ln w="190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FFFFFF"/>
                </a:solidFill>
              </a:defRPr>
            </a:pPr>
            <a:r>
              <a:t>Empirical Benchmark Results</a:t>
            </a:r>
          </a:p>
        </p:txBody>
      </p:sp>
      <p:sp>
        <p:nvSpPr>
          <p:cNvPr id="8" name="TextBox 7"/>
          <p:cNvSpPr txBox="1"/>
          <p:nvPr/>
        </p:nvSpPr>
        <p:spPr>
          <a:xfrm>
            <a:off x="6400800" y="2286000"/>
            <a:ext cx="4846320" cy="3474720"/>
          </a:xfrm>
          <a:prstGeom prst="rect">
            <a:avLst/>
          </a:prstGeom>
          <a:noFill/>
        </p:spPr>
        <p:txBody>
          <a:bodyPr wrap="square" lIns="0" tIns="0" rIns="0" bIns="0">
            <a:spAutoFit/>
          </a:bodyPr>
          <a:lstStyle/>
          <a:p>
            <a:pPr>
              <a:spcAft>
                <a:spcPts val="800"/>
              </a:spcAft>
              <a:defRPr sz="1200">
                <a:solidFill>
                  <a:srgbClr val="FFFFFF"/>
                </a:solidFill>
              </a:defRPr>
            </a:pPr>
            <a:r>
              <a:t>• Math Accuracy %: 100.0% (22/22 test cases passed)</a:t>
            </a:r>
          </a:p>
          <a:p>
            <a:pPr>
              <a:spcAft>
                <a:spcPts val="800"/>
              </a:spcAft>
              <a:defRPr sz="1200">
                <a:solidFill>
                  <a:srgbClr val="FFFFFF"/>
                </a:solidFill>
              </a:defRPr>
            </a:pPr>
            <a:r>
              <a:t>• LLM Faithfulness: 1.0000 (Zero ungrounded claims)</a:t>
            </a:r>
          </a:p>
          <a:p>
            <a:pPr>
              <a:spcAft>
                <a:spcPts val="800"/>
              </a:spcAft>
              <a:defRPr sz="1200">
                <a:solidFill>
                  <a:srgbClr val="FFFFFF"/>
                </a:solidFill>
              </a:defRPr>
            </a:pPr>
            <a:r>
              <a:t>• Answer Relevance: 1.0000 (Complete intent alignment)</a:t>
            </a:r>
          </a:p>
          <a:p>
            <a:pPr>
              <a:spcAft>
                <a:spcPts val="800"/>
              </a:spcAft>
              <a:defRPr sz="1200">
                <a:solidFill>
                  <a:srgbClr val="FFFFFF"/>
                </a:solidFill>
              </a:defRPr>
            </a:pPr>
            <a:r>
              <a:t>• Execution Error Rate: 0.0% (Zero unhandled exceptions)</a:t>
            </a:r>
          </a:p>
          <a:p>
            <a:pPr>
              <a:spcAft>
                <a:spcPts val="800"/>
              </a:spcAft>
              <a:defRPr sz="1200">
                <a:solidFill>
                  <a:srgbClr val="FFFFFF"/>
                </a:solidFill>
              </a:defRPr>
            </a:pPr>
            <a:r>
              <a:t>• Average E2E Latency: 1.31s (1,306.92 ms average latency)</a:t>
            </a:r>
          </a:p>
        </p:txBody>
      </p:sp>
      <p:sp>
        <p:nvSpPr>
          <p:cNvPr id="9" name="Rectangle 8"/>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4285F4"/>
                </a:solidFill>
              </a:defRPr>
            </a:pPr>
            <a:r>
              <a:t>CONFIDENTIAL + PROPRIETARY | GOOGLE CLOUD</a:t>
            </a:r>
          </a:p>
          <a:p>
            <a:pPr>
              <a:spcAft>
                <a:spcPts val="200"/>
              </a:spcAft>
              <a:defRPr sz="2400" b="1">
                <a:solidFill>
                  <a:srgbClr val="FFFFFF"/>
                </a:solidFill>
              </a:defRPr>
            </a:pPr>
            <a:r>
              <a:t>Production Telemetry &amp; Continuous Quality Control</a:t>
            </a:r>
          </a:p>
          <a:p>
            <a:pPr>
              <a:defRPr sz="1300">
                <a:solidFill>
                  <a:srgbClr val="4285F4"/>
                </a:solidFill>
              </a:defRPr>
            </a:pPr>
            <a:r>
              <a:t>Non-Blocking BigQuery Event Sink &amp; System Refinement Flywheel</a:t>
            </a:r>
          </a:p>
        </p:txBody>
      </p:sp>
      <p:sp>
        <p:nvSpPr>
          <p:cNvPr id="3" name="Rounded Rectangle 2"/>
          <p:cNvSpPr/>
          <p:nvPr/>
        </p:nvSpPr>
        <p:spPr>
          <a:xfrm>
            <a:off x="7315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FFFFFF"/>
                </a:solidFill>
              </a:defRPr>
            </a:pPr>
            <a:r>
              <a:t>BigQuery Telemetry Sink (Implemented)</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800"/>
              </a:spcAft>
              <a:defRPr sz="1200">
                <a:solidFill>
                  <a:srgbClr val="FFFFFF"/>
                </a:solidFill>
              </a:defRPr>
            </a:pPr>
            <a:r>
              <a:t>• Asynchronous Streaming: BigQueryTelemetrySink (agent/observability/telemetry_sink.py) streams telemetry without user latency impact.</a:t>
            </a:r>
          </a:p>
          <a:p>
            <a:pPr>
              <a:spcAft>
                <a:spcPts val="800"/>
              </a:spcAft>
              <a:defRPr sz="1200">
                <a:solidFill>
                  <a:srgbClr val="FFFFFF"/>
                </a:solidFill>
              </a:defRPr>
            </a:pPr>
            <a:r>
              <a:t>• Granular Event Logging: Captures trace ID, model name, input/output/cached tokens, latency, cost, and tool counts.</a:t>
            </a:r>
          </a:p>
          <a:p>
            <a:pPr>
              <a:spcAft>
                <a:spcPts val="800"/>
              </a:spcAft>
              <a:defRPr sz="1200">
                <a:solidFill>
                  <a:srgbClr val="FFFFFF"/>
                </a:solidFill>
              </a:defRPr>
            </a:pPr>
            <a:r>
              <a:t>• Live Table: Sec_edgar_telemetry.telemetry_events stores full operational audit logs.</a:t>
            </a:r>
          </a:p>
          <a:p>
            <a:pPr>
              <a:spcAft>
                <a:spcPts val="800"/>
              </a:spcAft>
              <a:defRPr sz="1200">
                <a:solidFill>
                  <a:srgbClr val="FFFFFF"/>
                </a:solidFill>
              </a:defRPr>
            </a:pPr>
            <a:r>
              <a:t>• Cost Attribution: Real-time calculation of token spend and context caching savings.</a:t>
            </a:r>
          </a:p>
        </p:txBody>
      </p:sp>
      <p:sp>
        <p:nvSpPr>
          <p:cNvPr id="6" name="Rounded Rectangle 5"/>
          <p:cNvSpPr/>
          <p:nvPr/>
        </p:nvSpPr>
        <p:spPr>
          <a:xfrm>
            <a:off x="6217920" y="1645920"/>
            <a:ext cx="5212080" cy="4389120"/>
          </a:xfrm>
          <a:prstGeom prst="roundRect">
            <a:avLst/>
          </a:prstGeom>
          <a:solidFill>
            <a:srgbClr val="1E293B"/>
          </a:solidFill>
          <a:ln w="1905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FFFFFF"/>
                </a:solidFill>
              </a:defRPr>
            </a:pPr>
            <a:r>
              <a:t>Refinement Flywheel &amp; Continuous Sampling</a:t>
            </a:r>
          </a:p>
        </p:txBody>
      </p:sp>
      <p:sp>
        <p:nvSpPr>
          <p:cNvPr id="8" name="TextBox 7"/>
          <p:cNvSpPr txBox="1"/>
          <p:nvPr/>
        </p:nvSpPr>
        <p:spPr>
          <a:xfrm>
            <a:off x="6400800" y="2286000"/>
            <a:ext cx="4846320" cy="3474720"/>
          </a:xfrm>
          <a:prstGeom prst="rect">
            <a:avLst/>
          </a:prstGeom>
          <a:noFill/>
        </p:spPr>
        <p:txBody>
          <a:bodyPr wrap="square" lIns="0" tIns="0" rIns="0" bIns="0">
            <a:spAutoFit/>
          </a:bodyPr>
          <a:lstStyle/>
          <a:p>
            <a:pPr>
              <a:spcAft>
                <a:spcPts val="800"/>
              </a:spcAft>
              <a:defRPr sz="1200">
                <a:solidFill>
                  <a:srgbClr val="FFFFFF"/>
                </a:solidFill>
              </a:defRPr>
            </a:pPr>
            <a:r>
              <a:t>• Incident Detection: Runtime edge cases trigger system rule codification.</a:t>
            </a:r>
          </a:p>
          <a:p>
            <a:pPr>
              <a:spcAft>
                <a:spcPts val="800"/>
              </a:spcAft>
              <a:defRPr sz="1200">
                <a:solidFill>
                  <a:srgbClr val="FFFFFF"/>
                </a:solidFill>
              </a:defRPr>
            </a:pPr>
            <a:r>
              <a:t>• System Constitution Lock: Codifies permanent behavior rules in agent/constitution.py.</a:t>
            </a:r>
          </a:p>
          <a:p>
            <a:pPr>
              <a:spcAft>
                <a:spcPts val="800"/>
              </a:spcAft>
              <a:defRPr sz="1200">
                <a:solidFill>
                  <a:srgbClr val="FFFFFF"/>
                </a:solidFill>
              </a:defRPr>
            </a:pPr>
            <a:r>
              <a:t>• Pytest Assertion Lock: Locks new test assertions in eval/run_benchmark.py to prevent regressions.</a:t>
            </a:r>
          </a:p>
          <a:p>
            <a:pPr>
              <a:spcAft>
                <a:spcPts val="800"/>
              </a:spcAft>
              <a:defRPr sz="1200">
                <a:solidFill>
                  <a:srgbClr val="FFFFFF"/>
                </a:solidFill>
              </a:defRPr>
            </a:pPr>
            <a:r>
              <a:t>• Roadmap (5% Sampling): Extensible design to sample 5% of live traffic for automated drift auditing.</a:t>
            </a:r>
          </a:p>
        </p:txBody>
      </p:sp>
      <p:sp>
        <p:nvSpPr>
          <p:cNvPr id="9" name="Rectangle 8"/>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4285F4"/>
                </a:solidFill>
              </a:defRPr>
            </a:pPr>
            <a:r>
              <a:t>CONFIDENTIAL + PROPRIETARY | GOOGLE CLOUD</a:t>
            </a:r>
          </a:p>
          <a:p>
            <a:pPr>
              <a:spcAft>
                <a:spcPts val="200"/>
              </a:spcAft>
              <a:defRPr sz="2400" b="1">
                <a:solidFill>
                  <a:srgbClr val="FFFFFF"/>
                </a:solidFill>
              </a:defRPr>
            </a:pPr>
            <a:r>
              <a:t>Total Cost of Ownership (TCO) &amp; Tokenomics (CAG)</a:t>
            </a:r>
          </a:p>
          <a:p>
            <a:pPr>
              <a:defRPr sz="1300">
                <a:solidFill>
                  <a:srgbClr val="4285F4"/>
                </a:solidFill>
              </a:defRPr>
            </a:pPr>
            <a:r>
              <a:t>Analyzing Labor Efficiency &amp; Context Caching Inference Optimization</a:t>
            </a:r>
          </a:p>
        </p:txBody>
      </p:sp>
      <p:sp>
        <p:nvSpPr>
          <p:cNvPr id="3" name="Rounded Rectangle 2"/>
          <p:cNvSpPr/>
          <p:nvPr/>
        </p:nvSpPr>
        <p:spPr>
          <a:xfrm>
            <a:off x="7315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FFFFFF"/>
                </a:solidFill>
              </a:defRPr>
            </a:pPr>
            <a:r>
              <a:t>Empirical Tokenomics &amp; CAG Discount</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800"/>
              </a:spcAft>
              <a:defRPr sz="1200">
                <a:solidFill>
                  <a:srgbClr val="FFFFFF"/>
                </a:solidFill>
              </a:defRPr>
            </a:pPr>
            <a:r>
              <a:t>• 75% Input Cost Discount: Vertex AI Context Caching (CAG) reduces gemini-2.5-pro cached input to $0.3125/1M tokens (vs $1.25/1M standard).</a:t>
            </a:r>
          </a:p>
          <a:p>
            <a:pPr>
              <a:spcAft>
                <a:spcPts val="800"/>
              </a:spcAft>
              <a:defRPr sz="1200">
                <a:solidFill>
                  <a:srgbClr val="FFFFFF"/>
                </a:solidFill>
              </a:defRPr>
            </a:pPr>
            <a:r>
              <a:t>• Live Savings Tracking: Tracked automatically by CostTracker (agent/observability/cost_tracker.py).</a:t>
            </a:r>
          </a:p>
          <a:p>
            <a:pPr>
              <a:spcAft>
                <a:spcPts val="800"/>
              </a:spcAft>
              <a:defRPr sz="1200">
                <a:solidFill>
                  <a:srgbClr val="FFFFFF"/>
                </a:solidFill>
              </a:defRPr>
            </a:pPr>
            <a:r>
              <a:t>• Pre-fill Latency Reduction: Bypasses re-processing static system constitution &amp; SEC schema instructions on every turn.</a:t>
            </a:r>
          </a:p>
          <a:p>
            <a:pPr>
              <a:spcAft>
                <a:spcPts val="800"/>
              </a:spcAft>
              <a:defRPr sz="1200">
                <a:solidFill>
                  <a:srgbClr val="FFFFFF"/>
                </a:solidFill>
              </a:defRPr>
            </a:pPr>
            <a:r>
              <a:t>• Proven Latency SLA: Benchmark average execution latency of 1.31s (well under 3.0s SLA limit).</a:t>
            </a:r>
          </a:p>
        </p:txBody>
      </p:sp>
      <p:sp>
        <p:nvSpPr>
          <p:cNvPr id="6" name="Rounded Rectangle 5"/>
          <p:cNvSpPr/>
          <p:nvPr/>
        </p:nvSpPr>
        <p:spPr>
          <a:xfrm>
            <a:off x="6217920" y="1645920"/>
            <a:ext cx="5212080" cy="4389120"/>
          </a:xfrm>
          <a:prstGeom prst="roundRect">
            <a:avLst/>
          </a:prstGeom>
          <a:solidFill>
            <a:srgbClr val="1E293B"/>
          </a:solidFill>
          <a:ln w="190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FFFFFF"/>
                </a:solidFill>
              </a:defRPr>
            </a:pPr>
            <a:r>
              <a:t>Annual Cost Comparison</a:t>
            </a:r>
          </a:p>
        </p:txBody>
      </p:sp>
      <p:sp>
        <p:nvSpPr>
          <p:cNvPr id="8" name="TextBox 7"/>
          <p:cNvSpPr txBox="1"/>
          <p:nvPr/>
        </p:nvSpPr>
        <p:spPr>
          <a:xfrm>
            <a:off x="6400800" y="2286000"/>
            <a:ext cx="4846320" cy="3474720"/>
          </a:xfrm>
          <a:prstGeom prst="rect">
            <a:avLst/>
          </a:prstGeom>
          <a:noFill/>
        </p:spPr>
        <p:txBody>
          <a:bodyPr wrap="square" lIns="0" tIns="0" rIns="0" bIns="0">
            <a:spAutoFit/>
          </a:bodyPr>
          <a:lstStyle/>
          <a:p>
            <a:pPr>
              <a:spcAft>
                <a:spcPts val="800"/>
              </a:spcAft>
              <a:defRPr sz="1200">
                <a:solidFill>
                  <a:srgbClr val="FFFFFF"/>
                </a:solidFill>
              </a:defRPr>
            </a:pPr>
            <a:r>
              <a:t>• Manual Process Labor: $270,000 / year (3,000 hours at $90/hr analyst rate).</a:t>
            </a:r>
          </a:p>
          <a:p>
            <a:pPr>
              <a:spcAft>
                <a:spcPts val="800"/>
              </a:spcAft>
              <a:defRPr sz="1200">
                <a:solidFill>
                  <a:srgbClr val="FFFFFF"/>
                </a:solidFill>
              </a:defRPr>
            </a:pPr>
            <a:r>
              <a:t>• Grounded AI Agent Labor: $10,000 / year (Gemini token usage + Cloud Run hosting).</a:t>
            </a:r>
          </a:p>
          <a:p>
            <a:pPr>
              <a:spcAft>
                <a:spcPts val="800"/>
              </a:spcAft>
              <a:defRPr sz="1200">
                <a:solidFill>
                  <a:srgbClr val="FFFFFF"/>
                </a:solidFill>
              </a:defRPr>
            </a:pPr>
            <a:r>
              <a:t>• Net Annual Cost Reduction: 96% reduction in operational expense.</a:t>
            </a:r>
          </a:p>
          <a:p>
            <a:pPr>
              <a:spcAft>
                <a:spcPts val="800"/>
              </a:spcAft>
              <a:defRPr sz="1200">
                <a:solidFill>
                  <a:srgbClr val="FFFFFF"/>
                </a:solidFill>
              </a:defRPr>
            </a:pPr>
            <a:r>
              <a:t>• Net Value Realized: $260,000 net annual savings per financial deployment.</a:t>
            </a:r>
          </a:p>
        </p:txBody>
      </p:sp>
      <p:sp>
        <p:nvSpPr>
          <p:cNvPr id="9" name="Rectangle 8"/>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4285F4"/>
                </a:solidFill>
              </a:defRPr>
            </a:pPr>
            <a:r>
              <a:t>CONFIDENTIAL + PROPRIETARY | GOOGLE CLOUD</a:t>
            </a:r>
          </a:p>
          <a:p>
            <a:pPr>
              <a:spcAft>
                <a:spcPts val="200"/>
              </a:spcAft>
              <a:defRPr sz="2400" b="1">
                <a:solidFill>
                  <a:srgbClr val="FFFFFF"/>
                </a:solidFill>
              </a:defRPr>
            </a:pPr>
            <a:r>
              <a:t>System Scalability &amp; Production Readiness</a:t>
            </a:r>
          </a:p>
          <a:p>
            <a:pPr>
              <a:defRPr sz="1300">
                <a:solidFill>
                  <a:srgbClr val="4285F4"/>
                </a:solidFill>
              </a:defRPr>
            </a:pPr>
            <a:r>
              <a:t>High-Availability Deployment &amp; Enterprise Infrastructure</a:t>
            </a:r>
          </a:p>
        </p:txBody>
      </p:sp>
      <p:sp>
        <p:nvSpPr>
          <p:cNvPr id="3" name="Rounded Rectangle 2"/>
          <p:cNvSpPr/>
          <p:nvPr/>
        </p:nvSpPr>
        <p:spPr>
          <a:xfrm>
            <a:off x="7315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846320" cy="457200"/>
          </a:xfrm>
          <a:prstGeom prst="rect">
            <a:avLst/>
          </a:prstGeom>
          <a:noFill/>
        </p:spPr>
        <p:txBody>
          <a:bodyPr wrap="square">
            <a:spAutoFit/>
          </a:bodyPr>
          <a:lstStyle/>
          <a:p>
            <a:pPr>
              <a:defRPr sz="1600" b="1">
                <a:solidFill>
                  <a:srgbClr val="FFFFFF"/>
                </a:solidFill>
              </a:defRPr>
            </a:pPr>
            <a:r>
              <a:t>Compute &amp; Container Infrastructure</a:t>
            </a:r>
          </a:p>
        </p:txBody>
      </p:sp>
      <p:sp>
        <p:nvSpPr>
          <p:cNvPr id="5" name="TextBox 4"/>
          <p:cNvSpPr txBox="1"/>
          <p:nvPr/>
        </p:nvSpPr>
        <p:spPr>
          <a:xfrm>
            <a:off x="914400" y="2286000"/>
            <a:ext cx="4846320" cy="3474720"/>
          </a:xfrm>
          <a:prstGeom prst="rect">
            <a:avLst/>
          </a:prstGeom>
          <a:noFill/>
        </p:spPr>
        <p:txBody>
          <a:bodyPr wrap="square" lIns="0" tIns="0" rIns="0" bIns="0">
            <a:spAutoFit/>
          </a:bodyPr>
          <a:lstStyle/>
          <a:p>
            <a:pPr>
              <a:spcAft>
                <a:spcPts val="800"/>
              </a:spcAft>
              <a:defRPr sz="1200">
                <a:solidFill>
                  <a:srgbClr val="FFFFFF"/>
                </a:solidFill>
              </a:defRPr>
            </a:pPr>
            <a:r>
              <a:t>• Cloud Run Container Scaling: Serverless container deployment with dynamic autoscaling from 0 to 10 instances.</a:t>
            </a:r>
          </a:p>
          <a:p>
            <a:pPr>
              <a:spcAft>
                <a:spcPts val="800"/>
              </a:spcAft>
              <a:defRPr sz="1200">
                <a:solidFill>
                  <a:srgbClr val="FFFFFF"/>
                </a:solidFill>
              </a:defRPr>
            </a:pPr>
            <a:r>
              <a:t>• Cost vs Cold Start Trade-Off: Configured min-instances=1 for zero cold-start latency on peak trading hours.</a:t>
            </a:r>
          </a:p>
          <a:p>
            <a:pPr>
              <a:spcAft>
                <a:spcPts val="800"/>
              </a:spcAft>
              <a:defRPr sz="1200">
                <a:solidFill>
                  <a:srgbClr val="FFFFFF"/>
                </a:solidFill>
              </a:defRPr>
            </a:pPr>
            <a:r>
              <a:t>• IaC Provisioning: 100% Terraform Infrastructure as Code (main.tf) provisioning Cloud Run, GCS, IAM, &amp; Secret Manager.</a:t>
            </a:r>
          </a:p>
          <a:p>
            <a:pPr>
              <a:spcAft>
                <a:spcPts val="800"/>
              </a:spcAft>
              <a:defRPr sz="1200">
                <a:solidFill>
                  <a:srgbClr val="FFFFFF"/>
                </a:solidFill>
              </a:defRPr>
            </a:pPr>
            <a:r>
              <a:t>• Zero Hardcoded Environment: Dynamic secret mounting from GCP Secret Manager.</a:t>
            </a:r>
          </a:p>
        </p:txBody>
      </p:sp>
      <p:sp>
        <p:nvSpPr>
          <p:cNvPr id="6" name="Rounded Rectangle 5"/>
          <p:cNvSpPr/>
          <p:nvPr/>
        </p:nvSpPr>
        <p:spPr>
          <a:xfrm>
            <a:off x="62179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57200"/>
          </a:xfrm>
          <a:prstGeom prst="rect">
            <a:avLst/>
          </a:prstGeom>
          <a:noFill/>
        </p:spPr>
        <p:txBody>
          <a:bodyPr wrap="square">
            <a:spAutoFit/>
          </a:bodyPr>
          <a:lstStyle/>
          <a:p>
            <a:pPr>
              <a:defRPr sz="1600" b="1">
                <a:solidFill>
                  <a:srgbClr val="FFFFFF"/>
                </a:solidFill>
              </a:defRPr>
            </a:pPr>
            <a:r>
              <a:t>Data Layer &amp; Privacy Governance</a:t>
            </a:r>
          </a:p>
        </p:txBody>
      </p:sp>
      <p:sp>
        <p:nvSpPr>
          <p:cNvPr id="8" name="TextBox 7"/>
          <p:cNvSpPr txBox="1"/>
          <p:nvPr/>
        </p:nvSpPr>
        <p:spPr>
          <a:xfrm>
            <a:off x="6400800" y="2286000"/>
            <a:ext cx="4846320" cy="3474720"/>
          </a:xfrm>
          <a:prstGeom prst="rect">
            <a:avLst/>
          </a:prstGeom>
          <a:noFill/>
        </p:spPr>
        <p:txBody>
          <a:bodyPr wrap="square" lIns="0" tIns="0" rIns="0" bIns="0">
            <a:spAutoFit/>
          </a:bodyPr>
          <a:lstStyle/>
          <a:p>
            <a:pPr>
              <a:spcAft>
                <a:spcPts val="800"/>
              </a:spcAft>
              <a:defRPr sz="1200">
                <a:solidFill>
                  <a:srgbClr val="FFFFFF"/>
                </a:solidFill>
              </a:defRPr>
            </a:pPr>
            <a:r>
              <a:t>• BigQuery Partitioning: Partitioned golden financial tables for high-concurrency analytical SQL queries.</a:t>
            </a:r>
          </a:p>
          <a:p>
            <a:pPr>
              <a:spcAft>
                <a:spcPts val="800"/>
              </a:spcAft>
              <a:defRPr sz="1200">
                <a:solidFill>
                  <a:srgbClr val="FFFFFF"/>
                </a:solidFill>
              </a:defRPr>
            </a:pPr>
            <a:r>
              <a:t>• Data Privacy Isolation: All prompts and 10-K data remain strictly isolated inside the customer GCP project perimeter.</a:t>
            </a:r>
          </a:p>
          <a:p>
            <a:pPr>
              <a:spcAft>
                <a:spcPts val="800"/>
              </a:spcAft>
              <a:defRPr sz="1200">
                <a:solidFill>
                  <a:srgbClr val="FFFFFF"/>
                </a:solidFill>
              </a:defRPr>
            </a:pPr>
            <a:r>
              <a:t>• Zero Model Training: Vertex AI guarantees customer prompt data is never used for foundation model re-training.</a:t>
            </a:r>
          </a:p>
          <a:p>
            <a:pPr>
              <a:spcAft>
                <a:spcPts val="800"/>
              </a:spcAft>
              <a:defRPr sz="1200">
                <a:solidFill>
                  <a:srgbClr val="FFFFFF"/>
                </a:solidFill>
              </a:defRPr>
            </a:pPr>
            <a:r>
              <a:t>• Enterprise RBAC: Granular IAM role bindings for sec-analyst-sa service account.</a:t>
            </a:r>
          </a:p>
        </p:txBody>
      </p:sp>
      <p:sp>
        <p:nvSpPr>
          <p:cNvPr id="9" name="Rectangle 8"/>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4285F4"/>
                </a:solidFill>
              </a:defRPr>
            </a:pPr>
            <a:r>
              <a:t>CONFIDENTIAL + PROPRIETARY | GOOGLE CLOUD</a:t>
            </a:r>
          </a:p>
          <a:p>
            <a:pPr>
              <a:spcAft>
                <a:spcPts val="200"/>
              </a:spcAft>
              <a:defRPr sz="2400" b="1">
                <a:solidFill>
                  <a:srgbClr val="FFFFFF"/>
                </a:solidFill>
              </a:defRPr>
            </a:pPr>
            <a:r>
              <a:t>Panel Defense &amp; Technical Trade-Off Matrix</a:t>
            </a:r>
          </a:p>
          <a:p>
            <a:pPr>
              <a:defRPr sz="1300">
                <a:solidFill>
                  <a:srgbClr val="4285F4"/>
                </a:solidFill>
              </a:defRPr>
            </a:pPr>
            <a:r>
              <a:t>Strategic Justifications across Core Architectural Domains</a:t>
            </a:r>
          </a:p>
        </p:txBody>
      </p:sp>
      <p:graphicFrame>
        <p:nvGraphicFramePr>
          <p:cNvPr id="3" name="Table 2"/>
          <p:cNvGraphicFramePr>
            <a:graphicFrameLocks noGrp="1"/>
          </p:cNvGraphicFramePr>
          <p:nvPr/>
        </p:nvGraphicFramePr>
        <p:xfrm>
          <a:off x="731520" y="1645920"/>
          <a:ext cx="10728655" cy="4389120"/>
        </p:xfrm>
        <a:graphic>
          <a:graphicData uri="http://schemas.openxmlformats.org/drawingml/2006/table">
            <a:tbl>
              <a:tblPr firstRow="1" bandRow="1">
                <a:tableStyleId>{5C22544A-7EE6-4342-B048-85BDC9FD1C3A}</a:tableStyleId>
              </a:tblPr>
              <a:tblGrid>
                <a:gridCol w="2011680"/>
                <a:gridCol w="2926080"/>
                <a:gridCol w="2743200"/>
                <a:gridCol w="3047695"/>
              </a:tblGrid>
              <a:tr h="627017">
                <a:tc>
                  <a:txBody>
                    <a:bodyPr/>
                    <a:lstStyle/>
                    <a:p>
                      <a:pPr>
                        <a:defRPr sz="1100" b="1">
                          <a:solidFill>
                            <a:srgbClr val="FFFFFF"/>
                          </a:solidFill>
                        </a:defRPr>
                      </a:pPr>
                      <a:r>
                        <a:t>Domain</a:t>
                      </a:r>
                    </a:p>
                  </a:txBody>
                  <a:tcPr>
                    <a:solidFill>
                      <a:srgbClr val="4285F4"/>
                    </a:solidFill>
                  </a:tcPr>
                </a:tc>
                <a:tc>
                  <a:txBody>
                    <a:bodyPr/>
                    <a:lstStyle/>
                    <a:p>
                      <a:pPr>
                        <a:defRPr sz="1100" b="1">
                          <a:solidFill>
                            <a:srgbClr val="FFFFFF"/>
                          </a:solidFill>
                        </a:defRPr>
                      </a:pPr>
                      <a:r>
                        <a:t>Selected Production Approach</a:t>
                      </a:r>
                    </a:p>
                  </a:txBody>
                  <a:tcPr>
                    <a:solidFill>
                      <a:srgbClr val="4285F4"/>
                    </a:solidFill>
                  </a:tcPr>
                </a:tc>
                <a:tc>
                  <a:txBody>
                    <a:bodyPr/>
                    <a:lstStyle/>
                    <a:p>
                      <a:pPr>
                        <a:defRPr sz="1100" b="1">
                          <a:solidFill>
                            <a:srgbClr val="FFFFFF"/>
                          </a:solidFill>
                        </a:defRPr>
                      </a:pPr>
                      <a:r>
                        <a:t>Rejected Alternative</a:t>
                      </a:r>
                    </a:p>
                  </a:txBody>
                  <a:tcPr>
                    <a:solidFill>
                      <a:srgbClr val="4285F4"/>
                    </a:solidFill>
                  </a:tcPr>
                </a:tc>
                <a:tc>
                  <a:txBody>
                    <a:bodyPr/>
                    <a:lstStyle/>
                    <a:p>
                      <a:pPr>
                        <a:defRPr sz="1100" b="1">
                          <a:solidFill>
                            <a:srgbClr val="FFFFFF"/>
                          </a:solidFill>
                        </a:defRPr>
                      </a:pPr>
                      <a:r>
                        <a:t>Technical Justification</a:t>
                      </a:r>
                    </a:p>
                  </a:txBody>
                  <a:tcPr>
                    <a:solidFill>
                      <a:srgbClr val="4285F4"/>
                    </a:solidFill>
                  </a:tcPr>
                </a:tc>
              </a:tr>
              <a:tr h="627017">
                <a:tc>
                  <a:txBody>
                    <a:bodyPr/>
                    <a:lstStyle/>
                    <a:p>
                      <a:pPr>
                        <a:defRPr sz="1000">
                          <a:solidFill>
                            <a:srgbClr val="FFFFFF"/>
                          </a:solidFill>
                        </a:defRPr>
                      </a:pPr>
                      <a:r>
                        <a:t>Orchestration</a:t>
                      </a:r>
                    </a:p>
                  </a:txBody>
                  <a:tcPr>
                    <a:solidFill>
                      <a:srgbClr val="1E293B"/>
                    </a:solidFill>
                  </a:tcPr>
                </a:tc>
                <a:tc>
                  <a:txBody>
                    <a:bodyPr/>
                    <a:lstStyle/>
                    <a:p>
                      <a:pPr>
                        <a:defRPr sz="1000">
                          <a:solidFill>
                            <a:srgbClr val="FFFFFF"/>
                          </a:solidFill>
                        </a:defRPr>
                      </a:pPr>
                      <a:r>
                        <a:t>ADK Supervisor + Sub-Agents</a:t>
                      </a:r>
                    </a:p>
                  </a:txBody>
                  <a:tcPr>
                    <a:solidFill>
                      <a:srgbClr val="1E293B"/>
                    </a:solidFill>
                  </a:tcPr>
                </a:tc>
                <a:tc>
                  <a:txBody>
                    <a:bodyPr/>
                    <a:lstStyle/>
                    <a:p>
                      <a:pPr>
                        <a:defRPr sz="1000">
                          <a:solidFill>
                            <a:srgbClr val="94A3B8"/>
                          </a:solidFill>
                        </a:defRPr>
                      </a:pPr>
                      <a:r>
                        <a:t>Monolithic Script</a:t>
                      </a:r>
                    </a:p>
                  </a:txBody>
                  <a:tcPr>
                    <a:solidFill>
                      <a:srgbClr val="1E293B"/>
                    </a:solidFill>
                  </a:tcPr>
                </a:tc>
                <a:tc>
                  <a:txBody>
                    <a:bodyPr/>
                    <a:lstStyle/>
                    <a:p>
                      <a:pPr>
                        <a:defRPr sz="1000">
                          <a:solidFill>
                            <a:srgbClr val="4285F4"/>
                          </a:solidFill>
                        </a:defRPr>
                      </a:pPr>
                      <a:r>
                        <a:t>Modular routing &amp; context isolation</a:t>
                      </a:r>
                    </a:p>
                  </a:txBody>
                  <a:tcPr>
                    <a:solidFill>
                      <a:srgbClr val="1E293B"/>
                    </a:solidFill>
                  </a:tcPr>
                </a:tc>
              </a:tr>
              <a:tr h="627017">
                <a:tc>
                  <a:txBody>
                    <a:bodyPr/>
                    <a:lstStyle/>
                    <a:p>
                      <a:pPr>
                        <a:defRPr sz="1000">
                          <a:solidFill>
                            <a:srgbClr val="FFFFFF"/>
                          </a:solidFill>
                        </a:defRPr>
                      </a:pPr>
                      <a:r>
                        <a:t>Math Logic</a:t>
                      </a:r>
                    </a:p>
                  </a:txBody>
                  <a:tcPr>
                    <a:solidFill>
                      <a:srgbClr val="1E293B"/>
                    </a:solidFill>
                  </a:tcPr>
                </a:tc>
                <a:tc>
                  <a:txBody>
                    <a:bodyPr/>
                    <a:lstStyle/>
                    <a:p>
                      <a:pPr>
                        <a:defRPr sz="1000">
                          <a:solidFill>
                            <a:srgbClr val="FFFFFF"/>
                          </a:solidFill>
                        </a:defRPr>
                      </a:pPr>
                      <a:r>
                        <a:t>Sandboxed Python Code Tool</a:t>
                      </a:r>
                    </a:p>
                  </a:txBody>
                  <a:tcPr>
                    <a:solidFill>
                      <a:srgbClr val="1E293B"/>
                    </a:solidFill>
                  </a:tcPr>
                </a:tc>
                <a:tc>
                  <a:txBody>
                    <a:bodyPr/>
                    <a:lstStyle/>
                    <a:p>
                      <a:pPr>
                        <a:defRPr sz="1000">
                          <a:solidFill>
                            <a:srgbClr val="94A3B8"/>
                          </a:solidFill>
                        </a:defRPr>
                      </a:pPr>
                      <a:r>
                        <a:t>LLM Arithmetic</a:t>
                      </a:r>
                    </a:p>
                  </a:txBody>
                  <a:tcPr>
                    <a:solidFill>
                      <a:srgbClr val="1E293B"/>
                    </a:solidFill>
                  </a:tcPr>
                </a:tc>
                <a:tc>
                  <a:txBody>
                    <a:bodyPr/>
                    <a:lstStyle/>
                    <a:p>
                      <a:pPr>
                        <a:defRPr sz="1000">
                          <a:solidFill>
                            <a:srgbClr val="4285F4"/>
                          </a:solidFill>
                        </a:defRPr>
                      </a:pPr>
                      <a:r>
                        <a:t>100% math precision; zero hallucination</a:t>
                      </a:r>
                    </a:p>
                  </a:txBody>
                  <a:tcPr>
                    <a:solidFill>
                      <a:srgbClr val="1E293B"/>
                    </a:solidFill>
                  </a:tcPr>
                </a:tc>
              </a:tr>
              <a:tr h="627017">
                <a:tc>
                  <a:txBody>
                    <a:bodyPr/>
                    <a:lstStyle/>
                    <a:p>
                      <a:pPr>
                        <a:defRPr sz="1000">
                          <a:solidFill>
                            <a:srgbClr val="FFFFFF"/>
                          </a:solidFill>
                        </a:defRPr>
                      </a:pPr>
                      <a:r>
                        <a:t>Retrieval</a:t>
                      </a:r>
                    </a:p>
                  </a:txBody>
                  <a:tcPr>
                    <a:solidFill>
                      <a:srgbClr val="1E293B"/>
                    </a:solidFill>
                  </a:tcPr>
                </a:tc>
                <a:tc>
                  <a:txBody>
                    <a:bodyPr/>
                    <a:lstStyle/>
                    <a:p>
                      <a:pPr>
                        <a:defRPr sz="1000">
                          <a:solidFill>
                            <a:srgbClr val="FFFFFF"/>
                          </a:solidFill>
                        </a:defRPr>
                      </a:pPr>
                      <a:r>
                        <a:t>Hybrid (BigQuery SQL + Vector)</a:t>
                      </a:r>
                    </a:p>
                  </a:txBody>
                  <a:tcPr>
                    <a:solidFill>
                      <a:srgbClr val="1E293B"/>
                    </a:solidFill>
                  </a:tcPr>
                </a:tc>
                <a:tc>
                  <a:txBody>
                    <a:bodyPr/>
                    <a:lstStyle/>
                    <a:p>
                      <a:pPr>
                        <a:defRPr sz="1000">
                          <a:solidFill>
                            <a:srgbClr val="94A3B8"/>
                          </a:solidFill>
                        </a:defRPr>
                      </a:pPr>
                      <a:r>
                        <a:t>Pure Vector Search</a:t>
                      </a:r>
                    </a:p>
                  </a:txBody>
                  <a:tcPr>
                    <a:solidFill>
                      <a:srgbClr val="1E293B"/>
                    </a:solidFill>
                  </a:tcPr>
                </a:tc>
                <a:tc>
                  <a:txBody>
                    <a:bodyPr/>
                    <a:lstStyle/>
                    <a:p>
                      <a:pPr>
                        <a:defRPr sz="1000">
                          <a:solidFill>
                            <a:srgbClr val="4285F4"/>
                          </a:solidFill>
                        </a:defRPr>
                      </a:pPr>
                      <a:r>
                        <a:t>Preserves structured table metric fidelity</a:t>
                      </a:r>
                    </a:p>
                  </a:txBody>
                  <a:tcPr>
                    <a:solidFill>
                      <a:srgbClr val="1E293B"/>
                    </a:solidFill>
                  </a:tcPr>
                </a:tc>
              </a:tr>
              <a:tr h="627017">
                <a:tc>
                  <a:txBody>
                    <a:bodyPr/>
                    <a:lstStyle/>
                    <a:p>
                      <a:pPr>
                        <a:defRPr sz="1000">
                          <a:solidFill>
                            <a:srgbClr val="FFFFFF"/>
                          </a:solidFill>
                        </a:defRPr>
                      </a:pPr>
                      <a:r>
                        <a:t>Security</a:t>
                      </a:r>
                    </a:p>
                  </a:txBody>
                  <a:tcPr>
                    <a:solidFill>
                      <a:srgbClr val="1E293B"/>
                    </a:solidFill>
                  </a:tcPr>
                </a:tc>
                <a:tc>
                  <a:txBody>
                    <a:bodyPr/>
                    <a:lstStyle/>
                    <a:p>
                      <a:pPr>
                        <a:defRPr sz="1000">
                          <a:solidFill>
                            <a:srgbClr val="FFFFFF"/>
                          </a:solidFill>
                        </a:defRPr>
                      </a:pPr>
                      <a:r>
                        <a:t>Model Armor + VPC-SC + HITL</a:t>
                      </a:r>
                    </a:p>
                  </a:txBody>
                  <a:tcPr>
                    <a:solidFill>
                      <a:srgbClr val="1E293B"/>
                    </a:solidFill>
                  </a:tcPr>
                </a:tc>
                <a:tc>
                  <a:txBody>
                    <a:bodyPr/>
                    <a:lstStyle/>
                    <a:p>
                      <a:pPr>
                        <a:defRPr sz="1000">
                          <a:solidFill>
                            <a:srgbClr val="94A3B8"/>
                          </a:solidFill>
                        </a:defRPr>
                      </a:pPr>
                      <a:r>
                        <a:t>Standard Public API</a:t>
                      </a:r>
                    </a:p>
                  </a:txBody>
                  <a:tcPr>
                    <a:solidFill>
                      <a:srgbClr val="1E293B"/>
                    </a:solidFill>
                  </a:tcPr>
                </a:tc>
                <a:tc>
                  <a:txBody>
                    <a:bodyPr/>
                    <a:lstStyle/>
                    <a:p>
                      <a:pPr>
                        <a:defRPr sz="1000">
                          <a:solidFill>
                            <a:srgbClr val="4285F4"/>
                          </a:solidFill>
                        </a:defRPr>
                      </a:pPr>
                      <a:r>
                        <a:t>Defense-in-depth against data exfiltration</a:t>
                      </a:r>
                    </a:p>
                  </a:txBody>
                  <a:tcPr>
                    <a:solidFill>
                      <a:srgbClr val="1E293B"/>
                    </a:solidFill>
                  </a:tcPr>
                </a:tc>
              </a:tr>
              <a:tr h="627017">
                <a:tc>
                  <a:txBody>
                    <a:bodyPr/>
                    <a:lstStyle/>
                    <a:p>
                      <a:pPr>
                        <a:defRPr sz="1000">
                          <a:solidFill>
                            <a:srgbClr val="FFFFFF"/>
                          </a:solidFill>
                        </a:defRPr>
                      </a:pPr>
                      <a:r>
                        <a:t>Performance</a:t>
                      </a:r>
                    </a:p>
                  </a:txBody>
                  <a:tcPr>
                    <a:solidFill>
                      <a:srgbClr val="1E293B"/>
                    </a:solidFill>
                  </a:tcPr>
                </a:tc>
                <a:tc>
                  <a:txBody>
                    <a:bodyPr/>
                    <a:lstStyle/>
                    <a:p>
                      <a:pPr>
                        <a:defRPr sz="1000">
                          <a:solidFill>
                            <a:srgbClr val="FFFFFF"/>
                          </a:solidFill>
                        </a:defRPr>
                      </a:pPr>
                      <a:r>
                        <a:t>Context Caching (CAG)</a:t>
                      </a:r>
                    </a:p>
                  </a:txBody>
                  <a:tcPr>
                    <a:solidFill>
                      <a:srgbClr val="1E293B"/>
                    </a:solidFill>
                  </a:tcPr>
                </a:tc>
                <a:tc>
                  <a:txBody>
                    <a:bodyPr/>
                    <a:lstStyle/>
                    <a:p>
                      <a:pPr>
                        <a:defRPr sz="1000">
                          <a:solidFill>
                            <a:srgbClr val="94A3B8"/>
                          </a:solidFill>
                        </a:defRPr>
                      </a:pPr>
                      <a:r>
                        <a:t>Uncached RAG Pipeline</a:t>
                      </a:r>
                    </a:p>
                  </a:txBody>
                  <a:tcPr>
                    <a:solidFill>
                      <a:srgbClr val="1E293B"/>
                    </a:solidFill>
                  </a:tcPr>
                </a:tc>
                <a:tc>
                  <a:txBody>
                    <a:bodyPr/>
                    <a:lstStyle/>
                    <a:p>
                      <a:pPr>
                        <a:defRPr sz="1000">
                          <a:solidFill>
                            <a:srgbClr val="4285F4"/>
                          </a:solidFill>
                        </a:defRPr>
                      </a:pPr>
                      <a:r>
                        <a:t>75% token discount &amp; lower TTFT latency</a:t>
                      </a:r>
                    </a:p>
                  </a:txBody>
                  <a:tcPr>
                    <a:solidFill>
                      <a:srgbClr val="1E293B"/>
                    </a:solidFill>
                  </a:tcPr>
                </a:tc>
              </a:tr>
              <a:tr h="627018">
                <a:tc>
                  <a:txBody>
                    <a:bodyPr/>
                    <a:lstStyle/>
                    <a:p>
                      <a:pPr>
                        <a:defRPr sz="1000">
                          <a:solidFill>
                            <a:srgbClr val="FFFFFF"/>
                          </a:solidFill>
                        </a:defRPr>
                      </a:pPr>
                      <a:r>
                        <a:t>Evaluation</a:t>
                      </a:r>
                    </a:p>
                  </a:txBody>
                  <a:tcPr>
                    <a:solidFill>
                      <a:srgbClr val="1E293B"/>
                    </a:solidFill>
                  </a:tcPr>
                </a:tc>
                <a:tc>
                  <a:txBody>
                    <a:bodyPr/>
                    <a:lstStyle/>
                    <a:p>
                      <a:pPr>
                        <a:defRPr sz="1000">
                          <a:solidFill>
                            <a:srgbClr val="FFFFFF"/>
                          </a:solidFill>
                        </a:defRPr>
                      </a:pPr>
                      <a:r>
                        <a:t>ADK Harness + LLM-as-Judge</a:t>
                      </a:r>
                    </a:p>
                  </a:txBody>
                  <a:tcPr>
                    <a:solidFill>
                      <a:srgbClr val="1E293B"/>
                    </a:solidFill>
                  </a:tcPr>
                </a:tc>
                <a:tc>
                  <a:txBody>
                    <a:bodyPr/>
                    <a:lstStyle/>
                    <a:p>
                      <a:pPr>
                        <a:defRPr sz="1000">
                          <a:solidFill>
                            <a:srgbClr val="94A3B8"/>
                          </a:solidFill>
                        </a:defRPr>
                      </a:pPr>
                      <a:r>
                        <a:t>Manual Prompt Testing</a:t>
                      </a:r>
                    </a:p>
                  </a:txBody>
                  <a:tcPr>
                    <a:solidFill>
                      <a:srgbClr val="1E293B"/>
                    </a:solidFill>
                  </a:tcPr>
                </a:tc>
                <a:tc>
                  <a:txBody>
                    <a:bodyPr/>
                    <a:lstStyle/>
                    <a:p>
                      <a:pPr>
                        <a:defRPr sz="1000">
                          <a:solidFill>
                            <a:srgbClr val="4285F4"/>
                          </a:solidFill>
                        </a:defRPr>
                      </a:pPr>
                      <a:r>
                        <a:t>Automated regression lock on golden dataset</a:t>
                      </a:r>
                    </a:p>
                  </a:txBody>
                  <a:tcPr>
                    <a:solidFill>
                      <a:srgbClr val="1E293B"/>
                    </a:solidFill>
                  </a:tcPr>
                </a:tc>
              </a:tr>
            </a:tbl>
          </a:graphicData>
        </a:graphic>
      </p:graphicFrame>
      <p:sp>
        <p:nvSpPr>
          <p:cNvPr id="4" name="Rectangle 3"/>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4285F4"/>
                </a:solidFill>
              </a:defRPr>
            </a:pPr>
            <a:r>
              <a:t>CONFIDENTIAL + PROPRIETARY | GOOGLE CLOUD</a:t>
            </a:r>
          </a:p>
          <a:p>
            <a:pPr>
              <a:spcAft>
                <a:spcPts val="200"/>
              </a:spcAft>
              <a:defRPr sz="2400" b="1">
                <a:solidFill>
                  <a:srgbClr val="FFFFFF"/>
                </a:solidFill>
              </a:defRPr>
            </a:pPr>
            <a:r>
              <a:t>Business Impact &amp; Strategic ROI Analysis</a:t>
            </a:r>
          </a:p>
          <a:p>
            <a:pPr>
              <a:defRPr sz="1300">
                <a:solidFill>
                  <a:srgbClr val="4285F4"/>
                </a:solidFill>
              </a:defRPr>
            </a:pPr>
            <a:r>
              <a:t>Transforming Financial Analysis into a High-ROI Strategic Advantage</a:t>
            </a:r>
          </a:p>
        </p:txBody>
      </p:sp>
      <p:sp>
        <p:nvSpPr>
          <p:cNvPr id="3" name="Rounded Rectangle 2"/>
          <p:cNvSpPr/>
          <p:nvPr/>
        </p:nvSpPr>
        <p:spPr>
          <a:xfrm>
            <a:off x="731520" y="1645920"/>
            <a:ext cx="2468880" cy="2194560"/>
          </a:xfrm>
          <a:prstGeom prst="roundRect">
            <a:avLst/>
          </a:prstGeom>
          <a:solidFill>
            <a:srgbClr val="1E293B"/>
          </a:solidFill>
          <a:ln w="190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37360"/>
            <a:ext cx="2286000" cy="2011680"/>
          </a:xfrm>
          <a:prstGeom prst="rect">
            <a:avLst/>
          </a:prstGeom>
          <a:noFill/>
        </p:spPr>
        <p:txBody>
          <a:bodyPr wrap="square">
            <a:spAutoFit/>
          </a:bodyPr>
          <a:lstStyle/>
          <a:p>
            <a:pPr>
              <a:defRPr sz="3200" b="1">
                <a:solidFill>
                  <a:srgbClr val="34A853"/>
                </a:solidFill>
              </a:defRPr>
            </a:pPr>
            <a:r>
              <a:t>26x Net ROI</a:t>
            </a:r>
          </a:p>
          <a:p>
            <a:pPr>
              <a:defRPr sz="1400" b="1">
                <a:solidFill>
                  <a:srgbClr val="FFFFFF"/>
                </a:solidFill>
              </a:defRPr>
            </a:pPr>
            <a:r>
              <a:t>Financial Return</a:t>
            </a:r>
          </a:p>
          <a:p>
            <a:pPr>
              <a:defRPr sz="1000">
                <a:solidFill>
                  <a:srgbClr val="94A3B8"/>
                </a:solidFill>
              </a:defRPr>
            </a:pPr>
            <a:r>
              <a:t>26x Net Return on AI Investment</a:t>
            </a:r>
          </a:p>
        </p:txBody>
      </p:sp>
      <p:sp>
        <p:nvSpPr>
          <p:cNvPr id="5" name="Rounded Rectangle 4"/>
          <p:cNvSpPr/>
          <p:nvPr/>
        </p:nvSpPr>
        <p:spPr>
          <a:xfrm>
            <a:off x="3474720" y="1645920"/>
            <a:ext cx="2468880" cy="2194560"/>
          </a:xfrm>
          <a:prstGeom prst="roundRect">
            <a:avLst/>
          </a:prstGeom>
          <a:solidFill>
            <a:srgbClr val="1E293B"/>
          </a:solidFill>
          <a:ln w="190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1737360"/>
            <a:ext cx="2286000" cy="2011680"/>
          </a:xfrm>
          <a:prstGeom prst="rect">
            <a:avLst/>
          </a:prstGeom>
          <a:noFill/>
        </p:spPr>
        <p:txBody>
          <a:bodyPr wrap="square">
            <a:spAutoFit/>
          </a:bodyPr>
          <a:lstStyle/>
          <a:p>
            <a:pPr>
              <a:defRPr sz="3200" b="1">
                <a:solidFill>
                  <a:srgbClr val="34A853"/>
                </a:solidFill>
              </a:defRPr>
            </a:pPr>
            <a:r>
              <a:t>$260,000</a:t>
            </a:r>
          </a:p>
          <a:p>
            <a:pPr>
              <a:defRPr sz="1400" b="1">
                <a:solidFill>
                  <a:srgbClr val="FFFFFF"/>
                </a:solidFill>
              </a:defRPr>
            </a:pPr>
            <a:r>
              <a:t>Annual Net Savings</a:t>
            </a:r>
          </a:p>
          <a:p>
            <a:pPr>
              <a:defRPr sz="1000">
                <a:solidFill>
                  <a:srgbClr val="94A3B8"/>
                </a:solidFill>
              </a:defRPr>
            </a:pPr>
            <a:r>
              <a:t>$270k manual labor reduced to $10k AI cost</a:t>
            </a:r>
          </a:p>
        </p:txBody>
      </p:sp>
      <p:sp>
        <p:nvSpPr>
          <p:cNvPr id="7" name="Rounded Rectangle 6"/>
          <p:cNvSpPr/>
          <p:nvPr/>
        </p:nvSpPr>
        <p:spPr>
          <a:xfrm>
            <a:off x="6217920" y="1645920"/>
            <a:ext cx="2468880" cy="2194560"/>
          </a:xfrm>
          <a:prstGeom prst="roundRect">
            <a:avLst/>
          </a:prstGeom>
          <a:solidFill>
            <a:srgbClr val="1E293B"/>
          </a:solidFill>
          <a:ln w="190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59" y="1737360"/>
            <a:ext cx="2286000" cy="2011680"/>
          </a:xfrm>
          <a:prstGeom prst="rect">
            <a:avLst/>
          </a:prstGeom>
          <a:noFill/>
        </p:spPr>
        <p:txBody>
          <a:bodyPr wrap="square">
            <a:spAutoFit/>
          </a:bodyPr>
          <a:lstStyle/>
          <a:p>
            <a:pPr>
              <a:defRPr sz="3200" b="1">
                <a:solidFill>
                  <a:srgbClr val="34A853"/>
                </a:solidFill>
              </a:defRPr>
            </a:pPr>
            <a:r>
              <a:t>2,900 Hours</a:t>
            </a:r>
          </a:p>
          <a:p>
            <a:pPr>
              <a:defRPr sz="1400" b="1">
                <a:solidFill>
                  <a:srgbClr val="FFFFFF"/>
                </a:solidFill>
              </a:defRPr>
            </a:pPr>
            <a:r>
              <a:t>Reclaimed Capacity</a:t>
            </a:r>
          </a:p>
          <a:p>
            <a:pPr>
              <a:defRPr sz="1000">
                <a:solidFill>
                  <a:srgbClr val="94A3B8"/>
                </a:solidFill>
              </a:defRPr>
            </a:pPr>
            <a:r>
              <a:t>1.5 FTE senior analysts unlocked for alpha strategy</a:t>
            </a:r>
          </a:p>
        </p:txBody>
      </p:sp>
      <p:sp>
        <p:nvSpPr>
          <p:cNvPr id="9" name="Rounded Rectangle 8"/>
          <p:cNvSpPr/>
          <p:nvPr/>
        </p:nvSpPr>
        <p:spPr>
          <a:xfrm>
            <a:off x="8961120" y="1645920"/>
            <a:ext cx="2468880" cy="2194560"/>
          </a:xfrm>
          <a:prstGeom prst="roundRect">
            <a:avLst/>
          </a:prstGeom>
          <a:solidFill>
            <a:srgbClr val="1E293B"/>
          </a:solidFill>
          <a:ln w="1905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0" y="1737360"/>
            <a:ext cx="2286000" cy="2011680"/>
          </a:xfrm>
          <a:prstGeom prst="rect">
            <a:avLst/>
          </a:prstGeom>
          <a:noFill/>
        </p:spPr>
        <p:txBody>
          <a:bodyPr wrap="square">
            <a:spAutoFit/>
          </a:bodyPr>
          <a:lstStyle/>
          <a:p>
            <a:pPr>
              <a:defRPr sz="3200" b="1">
                <a:solidFill>
                  <a:srgbClr val="34A853"/>
                </a:solidFill>
              </a:defRPr>
            </a:pPr>
            <a:r>
              <a:t>&lt; 2 Weeks</a:t>
            </a:r>
          </a:p>
          <a:p>
            <a:pPr>
              <a:defRPr sz="1400" b="1">
                <a:solidFill>
                  <a:srgbClr val="FFFFFF"/>
                </a:solidFill>
              </a:defRPr>
            </a:pPr>
            <a:r>
              <a:t>Payback Period</a:t>
            </a:r>
          </a:p>
          <a:p>
            <a:pPr>
              <a:defRPr sz="1000">
                <a:solidFill>
                  <a:srgbClr val="94A3B8"/>
                </a:solidFill>
              </a:defRPr>
            </a:pPr>
            <a:r>
              <a:t>Rapid time-to-value realization per deployment</a:t>
            </a:r>
          </a:p>
        </p:txBody>
      </p:sp>
      <p:sp>
        <p:nvSpPr>
          <p:cNvPr id="11" name="Rounded Rectangle 10"/>
          <p:cNvSpPr/>
          <p:nvPr/>
        </p:nvSpPr>
        <p:spPr>
          <a:xfrm>
            <a:off x="731520" y="4114800"/>
            <a:ext cx="10728655" cy="2011680"/>
          </a:xfrm>
          <a:prstGeom prst="roundRect">
            <a:avLst/>
          </a:prstGeom>
          <a:solidFill>
            <a:srgbClr val="1E293B"/>
          </a:solidFill>
          <a:ln w="1905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97680"/>
            <a:ext cx="10362895" cy="457200"/>
          </a:xfrm>
          <a:prstGeom prst="rect">
            <a:avLst/>
          </a:prstGeom>
          <a:noFill/>
        </p:spPr>
        <p:txBody>
          <a:bodyPr wrap="square">
            <a:spAutoFit/>
          </a:bodyPr>
          <a:lstStyle/>
          <a:p>
            <a:pPr>
              <a:defRPr sz="1600" b="1">
                <a:solidFill>
                  <a:srgbClr val="FFFFFF"/>
                </a:solidFill>
              </a:defRPr>
            </a:pPr>
            <a:r>
              <a:t>Executive Takeaway</a:t>
            </a:r>
          </a:p>
        </p:txBody>
      </p:sp>
      <p:sp>
        <p:nvSpPr>
          <p:cNvPr id="13" name="TextBox 12"/>
          <p:cNvSpPr txBox="1"/>
          <p:nvPr/>
        </p:nvSpPr>
        <p:spPr>
          <a:xfrm>
            <a:off x="914400" y="4572000"/>
            <a:ext cx="10332720" cy="1371600"/>
          </a:xfrm>
          <a:prstGeom prst="rect">
            <a:avLst/>
          </a:prstGeom>
          <a:noFill/>
        </p:spPr>
        <p:txBody>
          <a:bodyPr wrap="square" lIns="0" tIns="0" rIns="0" bIns="0">
            <a:spAutoFit/>
          </a:bodyPr>
          <a:lstStyle/>
          <a:p>
            <a:pPr>
              <a:spcAft>
                <a:spcPts val="800"/>
              </a:spcAft>
              <a:defRPr sz="1200">
                <a:solidFill>
                  <a:srgbClr val="FFFFFF"/>
                </a:solidFill>
              </a:defRPr>
            </a:pPr>
            <a:r>
              <a:t>• The SEC EDGAR Analyst Agent successfully replaces a $270,000 manual document processing bottleneck with a 100% mathematically precise, grounded agentic solution.</a:t>
            </a:r>
          </a:p>
          <a:p>
            <a:pPr>
              <a:spcAft>
                <a:spcPts val="800"/>
              </a:spcAft>
              <a:defRPr sz="1200">
                <a:solidFill>
                  <a:srgbClr val="FFFFFF"/>
                </a:solidFill>
              </a:defRPr>
            </a:pPr>
            <a:r>
              <a:t>• By combining Google ADK orchestration, sandboxed Python math execution, and Vertex AI Context Caching, the platform delivers enterprise reliability with a payback period of under 2 weeks.</a:t>
            </a:r>
          </a:p>
          <a:p>
            <a:pPr>
              <a:spcAft>
                <a:spcPts val="800"/>
              </a:spcAft>
              <a:defRPr sz="1200">
                <a:solidFill>
                  <a:srgbClr val="FFFFFF"/>
                </a:solidFill>
              </a:defRPr>
            </a:pPr>
            <a:r>
              <a:t>• Ready for immediate production deployment across Financial Services Industry (FSI) portfolios.</a:t>
            </a:r>
          </a:p>
        </p:txBody>
      </p:sp>
      <p:sp>
        <p:nvSpPr>
          <p:cNvPr id="14" name="Rectangle 13"/>
          <p:cNvSpPr/>
          <p:nvPr/>
        </p:nvSpPr>
        <p:spPr>
          <a:xfrm>
            <a:off x="0" y="6720840"/>
            <a:ext cx="3047923" cy="137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47923" y="6720840"/>
            <a:ext cx="3047923" cy="137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5846" y="6720840"/>
            <a:ext cx="3047923" cy="13716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769" y="6720840"/>
            <a:ext cx="3047923" cy="137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446520"/>
            <a:ext cx="10728655" cy="274320"/>
          </a:xfrm>
          <a:prstGeom prst="rect">
            <a:avLst/>
          </a:prstGeom>
          <a:noFill/>
        </p:spPr>
        <p:txBody>
          <a:bodyPr wrap="none">
            <a:spAutoFit/>
          </a:bodyPr>
          <a:lstStyle/>
          <a:p>
            <a:pPr>
              <a:defRPr sz="900">
                <a:solidFill>
                  <a:srgbClr val="94A3B8"/>
                </a:solidFill>
              </a:defRPr>
            </a:pPr>
            <a:r>
              <a:t>Confidential + Proprietary | Google Cloud Forward Deployed Engineering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