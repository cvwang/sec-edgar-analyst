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I'm presenting the SEC EDGAR Analyst Agent, an enterprise-grade financial reasoning engine built on Google Cloud Vertex AI and the Agent Development Kit (ADK). This project transforms manual SEC filing analysis into a 100% mathematically precise, grounded agentic solution.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on my background: I'm a Forward Deployed Engineer here at Google Cloud, with prior experience at Palantir and Scale AI. I hold a Computer Science degree from Michigan and an MBA from Chicago Booth. Let me walk you through the core business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agenda for today. We'll start with the baseline manual problem, walk through a live user journey and demo, dive deep into each architectural layer with explicit trade-offs, review our expanded evaluation harness, and conclude with our bottom-up TCO and ROI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discussing AI metrics, let's examine the baseline business reality. Senior financial analysts spend 2.5 hours reading 300-page SEC 10-Ks and manually copy-pasting numbers into spreadsheets. This wastes 3,000 hours and $270,000 annually per team. Worse, standard LLMs cannot solve this off-the-shelf because probabilistic math introduces unacceptable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operational transformation. In the legacy state, an analyst manually opens EDGAR, copies metrics into Excel, and writes memos over 2.5 hours. In our grounded agentic state, the analyst types a natural language query, receives deterministic math and grounded citations in under 5 minutes, verifies source excerpts split-pane, and approves export.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is engineered against four non-negotiable SLAs: 100% math accuracy, 92%+ grounded precision, sub-3.0s latency, and 100% security compliance. We enforce these using sandboxed Python math, Vertex AI Search DataStore grounding, and Model Armor guardrails.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product interface. The analyst asks a question, and the agent responds with a grounded narrative and a dynamic A2UI variance table. When the analyst clicks any inline citation, the right-hand split-pane immediately navigates to the exact 10-K filing excerpt stored in GCS.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stands on four technical pillars: 1) ADK Supervisor for agentic orchestration, 2) Decoupled Python calculation engine for math, 3) Hybrid RAG combining BigQuery SQL and Vertex AI Search DataStore grounding, and 4) Model Armor and VPC-SC for security.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end-to-end diagram illustrates the full execution path from the user prompt down to GCP storage layers. Model Armor inspects prompts at ingress before handing off to the ADK RootOrchestrator, which routes tasks to specialized tools and sub-agents.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Layer 1, we made a key architectural decision: instead of returning raw markdown table text from the LLM, we engineered the A2UI Protocol. The model outputs structured JSON specifications, which React renders into interactive financial tables and charts.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Layer 2, we chose the Google ADK Supervisor Pattern over a monolithic prompt. ADK's modular structure allows the RootOrchestrator to dynamically route metric queries to SQL, math to Python, and text searches to our Search Sub-Agent.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retrieval architecture uses a Dual-Path engine. Quantitative queries hit BigQuery SQL for exact numbers, while qualitative risk queries hit Vertex AI Search DataStore Grounding, retrieving exact 10-K filing passages anchored by Ticker and Fiscal Year metadata.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finance, 99% math accuracy is a failing grade. We decoupled all math from the LLM into a sandboxed Python solver. The model extracts parameters, but Python executes the calculations, guaranteeing 100% arithmetic accuracy.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5 provides enterprise trust. We deploy inside a VPC Service Controls perimeter and integrate Model Armor callbacks on both ingress and egress. Adversarial jailbreaks are blocked before reaching Gemini.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expanded our evaluation framework into two distinct tracks: Track 1 runs deterministic code assertions to verify math, while Track 2 uses Gemini 2.5 Flash as an LLM-as-a-Judge to evaluate citation precision and trajectory quality.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ADK Evaluation Harness runs automated benchmarks against a golden dataset. In our latest run of 22 comprehensive test cases, we achieved 100% math accuracy, 1.0 faithfulness, 0% execution errors, and an average latency of 1.31 seconds.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observability, our BigQuery Telemetry Sink streams execution metrics asynchronously with zero user latency impact. Any edge cases detected feed into our Refinement Flywheel, where rules are permanently locked into the system constitution.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bottom-up cost breakdown. For 1,200 reports per year, Gemini LLM inference costs $210 with Context Caching, Vertex AI Search costs $12, Cloud Run compute costs $660, and security/infrastructure costs $8,878. This totals exactly $10,000 annually, yielding a 96.3% cost reduction from our $270,000 manual baseline.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scalability and security: our system is deployed on Cloud Run via 100% Terraform IaC with min-instances set to zero cold-start latency. BigQuery is partitioned for concurrency, and Vertex AI guarantees zero data exfiltration or model training on customer prompts.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defense matrix summarizes our core architectural choices. In every domain—orchestration, math, retrieval, security, performance, and evaluation—we selected deterministic, modular, and secure approaches over brittle monolithic alternatives.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SEC EDGAR Analyst Agent delivers a 26x net ROI, $260,000 in net annual savings, and a payback period of under 2 weeks. More importantly, it reclaims 2,900 hours of senior analyst capacity while guaranteeing zero mathematical hallucinations. Thank you, and I am now ready for panel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2011680"/>
            <a:ext cx="10362895" cy="3200400"/>
          </a:xfrm>
          <a:prstGeom prst="rect">
            <a:avLst/>
          </a:prstGeom>
          <a:noFill/>
        </p:spPr>
        <p:txBody>
          <a:bodyPr wrap="square">
            <a:spAutoFit/>
          </a:bodyPr>
          <a:lstStyle/>
          <a:p>
            <a:pPr>
              <a:spcAft>
                <a:spcPts val="2000"/>
              </a:spcAft>
              <a:defRPr sz="1100" b="1">
                <a:solidFill>
                  <a:srgbClr val="64748B"/>
                </a:solidFill>
              </a:defRPr>
            </a:pPr>
            <a:r>
              <a:t>CONFIDENTIAL + PROPRIETARY | GOOGLE CLOUD GTM FORWARD DEPLOYED ENGINEERING</a:t>
            </a:r>
          </a:p>
          <a:p>
            <a:pPr>
              <a:spcAft>
                <a:spcPts val="1000"/>
              </a:spcAft>
              <a:defRPr sz="4400" b="1">
                <a:solidFill>
                  <a:srgbClr val="0F172A"/>
                </a:solidFill>
              </a:defRPr>
            </a:pPr>
            <a:r>
              <a:t>SEC EDGAR Analyst Agent</a:t>
            </a:r>
          </a:p>
          <a:p>
            <a:pPr>
              <a:spcAft>
                <a:spcPts val="4000"/>
              </a:spcAft>
              <a:defRPr sz="2200">
                <a:solidFill>
                  <a:srgbClr val="1A73E8"/>
                </a:solidFill>
              </a:defRPr>
            </a:pPr>
            <a:r>
              <a:t>Grounded Financial Intelligence &amp; Automated Reasoning Engine on Google Cloud</a:t>
            </a:r>
          </a:p>
          <a:p>
            <a:pPr>
              <a:defRPr sz="1400">
                <a:solidFill>
                  <a:srgbClr val="64748B"/>
                </a:solidFill>
              </a:defRPr>
            </a:pPr>
            <a:r>
              <a:t>Charles Wang  |  Forward Deployed Engineer</a:t>
            </a:r>
          </a:p>
        </p:txBody>
      </p:sp>
      <p:sp>
        <p:nvSpPr>
          <p:cNvPr id="3" name="Rectangle 2"/>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Introduction</a:t>
            </a:r>
          </a:p>
          <a:p>
            <a:pPr>
              <a:defRPr sz="1300">
                <a:solidFill>
                  <a:srgbClr val="1A73E8"/>
                </a:solidFill>
              </a:defRPr>
            </a:pPr>
            <a:r>
              <a:t>Engineering Origins &amp; Background</a:t>
            </a:r>
          </a:p>
        </p:txBody>
      </p:sp>
      <p:sp>
        <p:nvSpPr>
          <p:cNvPr id="3" name="Rounded Rectangle 2"/>
          <p:cNvSpPr/>
          <p:nvPr/>
        </p:nvSpPr>
        <p:spPr>
          <a:xfrm>
            <a:off x="731520" y="1645920"/>
            <a:ext cx="32918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2926080" cy="457200"/>
          </a:xfrm>
          <a:prstGeom prst="rect">
            <a:avLst/>
          </a:prstGeom>
          <a:noFill/>
        </p:spPr>
        <p:txBody>
          <a:bodyPr wrap="square">
            <a:spAutoFit/>
          </a:bodyPr>
          <a:lstStyle/>
          <a:p>
            <a:pPr>
              <a:defRPr sz="1600" b="1">
                <a:solidFill>
                  <a:srgbClr val="0F172A"/>
                </a:solidFill>
              </a:defRPr>
            </a:pPr>
            <a:r>
              <a:t>Charles Wang</a:t>
            </a:r>
          </a:p>
        </p:txBody>
      </p:sp>
      <p:sp>
        <p:nvSpPr>
          <p:cNvPr id="5" name="TextBox 4"/>
          <p:cNvSpPr txBox="1"/>
          <p:nvPr/>
        </p:nvSpPr>
        <p:spPr>
          <a:xfrm>
            <a:off x="914400" y="2286000"/>
            <a:ext cx="2926080" cy="3474720"/>
          </a:xfrm>
          <a:prstGeom prst="rect">
            <a:avLst/>
          </a:prstGeom>
          <a:noFill/>
        </p:spPr>
        <p:txBody>
          <a:bodyPr wrap="square" lIns="0" tIns="0" rIns="0" bIns="0">
            <a:spAutoFit/>
          </a:bodyPr>
          <a:lstStyle/>
          <a:p>
            <a:pPr>
              <a:spcAft>
                <a:spcPts val="600"/>
              </a:spcAft>
              <a:defRPr sz="1200">
                <a:solidFill>
                  <a:srgbClr val="0F172A"/>
                </a:solidFill>
              </a:defRPr>
            </a:pPr>
            <a:r>
              <a:t>• FDE at Google Cloud</a:t>
            </a:r>
          </a:p>
          <a:p>
            <a:pPr>
              <a:spcAft>
                <a:spcPts val="600"/>
              </a:spcAft>
              <a:defRPr sz="1200">
                <a:solidFill>
                  <a:srgbClr val="0F172A"/>
                </a:solidFill>
              </a:defRPr>
            </a:pPr>
            <a:r>
              <a:t>• Prior: Palantir FDE &amp; Scale AI Lead</a:t>
            </a:r>
          </a:p>
          <a:p>
            <a:pPr>
              <a:spcAft>
                <a:spcPts val="600"/>
              </a:spcAft>
              <a:defRPr sz="1200">
                <a:solidFill>
                  <a:srgbClr val="0F172A"/>
                </a:solidFill>
              </a:defRPr>
            </a:pPr>
            <a:r>
              <a:t>• Focus: Enterprise AI &amp; RAG Architecture</a:t>
            </a:r>
          </a:p>
        </p:txBody>
      </p:sp>
      <p:sp>
        <p:nvSpPr>
          <p:cNvPr id="6" name="Rounded Rectangle 5"/>
          <p:cNvSpPr/>
          <p:nvPr/>
        </p:nvSpPr>
        <p:spPr>
          <a:xfrm>
            <a:off x="4297680" y="1645920"/>
            <a:ext cx="347472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828800"/>
            <a:ext cx="3108960" cy="457200"/>
          </a:xfrm>
          <a:prstGeom prst="rect">
            <a:avLst/>
          </a:prstGeom>
          <a:noFill/>
        </p:spPr>
        <p:txBody>
          <a:bodyPr wrap="square">
            <a:spAutoFit/>
          </a:bodyPr>
          <a:lstStyle/>
          <a:p>
            <a:pPr>
              <a:defRPr sz="1600" b="1">
                <a:solidFill>
                  <a:srgbClr val="0F172A"/>
                </a:solidFill>
              </a:defRPr>
            </a:pPr>
            <a:r>
              <a:t>Education &amp; Focus</a:t>
            </a:r>
          </a:p>
        </p:txBody>
      </p:sp>
      <p:sp>
        <p:nvSpPr>
          <p:cNvPr id="8" name="TextBox 7"/>
          <p:cNvSpPr txBox="1"/>
          <p:nvPr/>
        </p:nvSpPr>
        <p:spPr>
          <a:xfrm>
            <a:off x="4480560" y="2286000"/>
            <a:ext cx="3108960" cy="3474720"/>
          </a:xfrm>
          <a:prstGeom prst="rect">
            <a:avLst/>
          </a:prstGeom>
          <a:noFill/>
        </p:spPr>
        <p:txBody>
          <a:bodyPr wrap="square" lIns="0" tIns="0" rIns="0" bIns="0">
            <a:spAutoFit/>
          </a:bodyPr>
          <a:lstStyle/>
          <a:p>
            <a:pPr>
              <a:spcAft>
                <a:spcPts val="600"/>
              </a:spcAft>
              <a:defRPr sz="1200">
                <a:solidFill>
                  <a:srgbClr val="0F172A"/>
                </a:solidFill>
              </a:defRPr>
            </a:pPr>
            <a:r>
              <a:t>• B.S. CS Engineering — Univ. of Michigan</a:t>
            </a:r>
          </a:p>
          <a:p>
            <a:pPr>
              <a:spcAft>
                <a:spcPts val="600"/>
              </a:spcAft>
              <a:defRPr sz="1200">
                <a:solidFill>
                  <a:srgbClr val="0F172A"/>
                </a:solidFill>
              </a:defRPr>
            </a:pPr>
            <a:r>
              <a:t>• MBA — Univ. of Chicago Booth</a:t>
            </a:r>
          </a:p>
          <a:p>
            <a:pPr>
              <a:spcAft>
                <a:spcPts val="600"/>
              </a:spcAft>
              <a:defRPr sz="1200">
                <a:solidFill>
                  <a:srgbClr val="0F172A"/>
                </a:solidFill>
              </a:defRPr>
            </a:pPr>
            <a:r>
              <a:t>• Specialization: Financial AI Systems</a:t>
            </a:r>
          </a:p>
        </p:txBody>
      </p:sp>
      <p:sp>
        <p:nvSpPr>
          <p:cNvPr id="9" name="Rounded Rectangle 8"/>
          <p:cNvSpPr/>
          <p:nvPr/>
        </p:nvSpPr>
        <p:spPr>
          <a:xfrm>
            <a:off x="8046720" y="1645920"/>
            <a:ext cx="33832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457200"/>
          </a:xfrm>
          <a:prstGeom prst="rect">
            <a:avLst/>
          </a:prstGeom>
          <a:noFill/>
        </p:spPr>
        <p:txBody>
          <a:bodyPr wrap="square">
            <a:spAutoFit/>
          </a:bodyPr>
          <a:lstStyle/>
          <a:p>
            <a:pPr>
              <a:defRPr sz="1600" b="1">
                <a:solidFill>
                  <a:srgbClr val="0F172A"/>
                </a:solidFill>
              </a:defRPr>
            </a:pPr>
            <a:r>
              <a:t>Capstone Scope</a:t>
            </a:r>
          </a:p>
        </p:txBody>
      </p:sp>
      <p:sp>
        <p:nvSpPr>
          <p:cNvPr id="11" name="TextBox 10"/>
          <p:cNvSpPr txBox="1"/>
          <p:nvPr/>
        </p:nvSpPr>
        <p:spPr>
          <a:xfrm>
            <a:off x="8229600" y="2286000"/>
            <a:ext cx="3017520" cy="3474720"/>
          </a:xfrm>
          <a:prstGeom prst="rect">
            <a:avLst/>
          </a:prstGeom>
          <a:noFill/>
        </p:spPr>
        <p:txBody>
          <a:bodyPr wrap="square" lIns="0" tIns="0" rIns="0" bIns="0">
            <a:spAutoFit/>
          </a:bodyPr>
          <a:lstStyle/>
          <a:p>
            <a:pPr>
              <a:spcAft>
                <a:spcPts val="600"/>
              </a:spcAft>
              <a:defRPr sz="1200">
                <a:solidFill>
                  <a:srgbClr val="0F172A"/>
                </a:solidFill>
              </a:defRPr>
            </a:pPr>
            <a:r>
              <a:t>• Domain: Financial Services (FSI)</a:t>
            </a:r>
          </a:p>
          <a:p>
            <a:pPr>
              <a:spcAft>
                <a:spcPts val="600"/>
              </a:spcAft>
              <a:defRPr sz="1200">
                <a:solidFill>
                  <a:srgbClr val="0F172A"/>
                </a:solidFill>
              </a:defRPr>
            </a:pPr>
            <a:r>
              <a:t>• Goal: Automate multi-statement 10-K analysis</a:t>
            </a:r>
          </a:p>
          <a:p>
            <a:pPr>
              <a:spcAft>
                <a:spcPts val="600"/>
              </a:spcAft>
              <a:defRPr sz="1200">
                <a:solidFill>
                  <a:srgbClr val="0F172A"/>
                </a:solidFill>
              </a:defRPr>
            </a:pPr>
            <a:r>
              <a:t>• Focus: Zero-hallucination math &amp; auditability</a:t>
            </a:r>
          </a:p>
        </p:txBody>
      </p:sp>
      <p:sp>
        <p:nvSpPr>
          <p:cNvPr id="12" name="Rectangle 11"/>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Agenda &amp; Story Map</a:t>
            </a:r>
          </a:p>
          <a:p>
            <a:pPr>
              <a:defRPr sz="1300">
                <a:solidFill>
                  <a:srgbClr val="1A73E8"/>
                </a:solidFill>
              </a:defRPr>
            </a:pPr>
            <a:r>
              <a:t>Roadmap of Presentation Sections</a:t>
            </a:r>
          </a:p>
        </p:txBody>
      </p:sp>
      <p:sp>
        <p:nvSpPr>
          <p:cNvPr id="3" name="Rounded Rectangle 2"/>
          <p:cNvSpPr/>
          <p:nvPr/>
        </p:nvSpPr>
        <p:spPr>
          <a:xfrm>
            <a:off x="731520" y="1645920"/>
            <a:ext cx="10728655" cy="7772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10332720" cy="502920"/>
          </a:xfrm>
          <a:prstGeom prst="rect">
            <a:avLst/>
          </a:prstGeom>
          <a:noFill/>
        </p:spPr>
        <p:txBody>
          <a:bodyPr wrap="none">
            <a:spAutoFit/>
          </a:bodyPr>
          <a:lstStyle/>
          <a:p>
            <a:pPr>
              <a:defRPr sz="1300" b="1">
                <a:solidFill>
                  <a:srgbClr val="0F172A"/>
                </a:solidFill>
              </a:defRPr>
            </a:pPr>
            <a:r>
              <a:t>01   |   Business Problem &amp; User Journey  —  Manual 10-K pain &amp; workflow transformation</a:t>
            </a:r>
          </a:p>
        </p:txBody>
      </p:sp>
      <p:sp>
        <p:nvSpPr>
          <p:cNvPr id="5" name="Rounded Rectangle 4"/>
          <p:cNvSpPr/>
          <p:nvPr/>
        </p:nvSpPr>
        <p:spPr>
          <a:xfrm>
            <a:off x="731520" y="2560320"/>
            <a:ext cx="10728655" cy="7772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97479"/>
            <a:ext cx="10332720" cy="502920"/>
          </a:xfrm>
          <a:prstGeom prst="rect">
            <a:avLst/>
          </a:prstGeom>
          <a:noFill/>
        </p:spPr>
        <p:txBody>
          <a:bodyPr wrap="none">
            <a:spAutoFit/>
          </a:bodyPr>
          <a:lstStyle/>
          <a:p>
            <a:pPr>
              <a:defRPr sz="1300" b="1">
                <a:solidFill>
                  <a:srgbClr val="0F172A"/>
                </a:solidFill>
              </a:defRPr>
            </a:pPr>
            <a:r>
              <a:t>02   |   Live Product Demo &amp; Solution Overview  —  Split-pane UI &amp; 4 Technical Pillars</a:t>
            </a:r>
          </a:p>
        </p:txBody>
      </p:sp>
      <p:sp>
        <p:nvSpPr>
          <p:cNvPr id="7" name="Rounded Rectangle 6"/>
          <p:cNvSpPr/>
          <p:nvPr/>
        </p:nvSpPr>
        <p:spPr>
          <a:xfrm>
            <a:off x="731520" y="3474720"/>
            <a:ext cx="10728655" cy="7772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611879"/>
            <a:ext cx="10332720" cy="502920"/>
          </a:xfrm>
          <a:prstGeom prst="rect">
            <a:avLst/>
          </a:prstGeom>
          <a:noFill/>
        </p:spPr>
        <p:txBody>
          <a:bodyPr wrap="none">
            <a:spAutoFit/>
          </a:bodyPr>
          <a:lstStyle/>
          <a:p>
            <a:pPr>
              <a:defRPr sz="1300" b="1">
                <a:solidFill>
                  <a:srgbClr val="0F172A"/>
                </a:solidFill>
              </a:defRPr>
            </a:pPr>
            <a:r>
              <a:t>03   |   Architecture Deep Dives &amp; Trade-Offs  —  ADK Supervisor, Hybrid RAG, &amp; Decoupled Math</a:t>
            </a:r>
          </a:p>
        </p:txBody>
      </p:sp>
      <p:sp>
        <p:nvSpPr>
          <p:cNvPr id="9" name="Rounded Rectangle 8"/>
          <p:cNvSpPr/>
          <p:nvPr/>
        </p:nvSpPr>
        <p:spPr>
          <a:xfrm>
            <a:off x="731520" y="4389120"/>
            <a:ext cx="10728655" cy="7772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26280"/>
            <a:ext cx="10332720" cy="502920"/>
          </a:xfrm>
          <a:prstGeom prst="rect">
            <a:avLst/>
          </a:prstGeom>
          <a:noFill/>
        </p:spPr>
        <p:txBody>
          <a:bodyPr wrap="none">
            <a:spAutoFit/>
          </a:bodyPr>
          <a:lstStyle/>
          <a:p>
            <a:pPr>
              <a:defRPr sz="1300" b="1">
                <a:solidFill>
                  <a:srgbClr val="0F172A"/>
                </a:solidFill>
              </a:defRPr>
            </a:pPr>
            <a:r>
              <a:t>04   |   Expanded Evaluation Framework  —  Math Assertions, LLM-as-a-Judge, &amp; ADK Eval Harness</a:t>
            </a:r>
          </a:p>
        </p:txBody>
      </p:sp>
      <p:sp>
        <p:nvSpPr>
          <p:cNvPr id="11" name="Rounded Rectangle 10"/>
          <p:cNvSpPr/>
          <p:nvPr/>
        </p:nvSpPr>
        <p:spPr>
          <a:xfrm>
            <a:off x="731520" y="5303520"/>
            <a:ext cx="10728655" cy="7772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40680"/>
            <a:ext cx="10332720" cy="502920"/>
          </a:xfrm>
          <a:prstGeom prst="rect">
            <a:avLst/>
          </a:prstGeom>
          <a:noFill/>
        </p:spPr>
        <p:txBody>
          <a:bodyPr wrap="none">
            <a:spAutoFit/>
          </a:bodyPr>
          <a:lstStyle/>
          <a:p>
            <a:pPr>
              <a:defRPr sz="1300" b="1">
                <a:solidFill>
                  <a:srgbClr val="0F172A"/>
                </a:solidFill>
              </a:defRPr>
            </a:pPr>
            <a:r>
              <a:t>05   |   TCO, Scalability &amp; Strategic ROI  —  Bottom-up cost model ($10k/yr AI cost) &amp; 26x Net ROI</a:t>
            </a:r>
          </a:p>
        </p:txBody>
      </p:sp>
      <p:sp>
        <p:nvSpPr>
          <p:cNvPr id="13" name="Rectangle 12"/>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Baseline Business Problem — The Analyst Bottleneck</a:t>
            </a:r>
          </a:p>
          <a:p>
            <a:pPr>
              <a:defRPr sz="1300">
                <a:solidFill>
                  <a:srgbClr val="1A73E8"/>
                </a:solidFill>
              </a:defRPr>
            </a:pPr>
            <a:r>
              <a:t>The Manual Challenge of SEC Filing Parsing in Financial Services</a:t>
            </a:r>
          </a:p>
        </p:txBody>
      </p:sp>
      <p:sp>
        <p:nvSpPr>
          <p:cNvPr id="3" name="Rounded Rectangle 2"/>
          <p:cNvSpPr/>
          <p:nvPr/>
        </p:nvSpPr>
        <p:spPr>
          <a:xfrm>
            <a:off x="7315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Current Manual Process (Legacy State)</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2.5 Hours / Report: 150 mins reading 300+ page 10-Ks &amp; Excel modeling</a:t>
            </a:r>
          </a:p>
          <a:p>
            <a:pPr>
              <a:spcAft>
                <a:spcPts val="600"/>
              </a:spcAft>
              <a:defRPr sz="1200">
                <a:solidFill>
                  <a:srgbClr val="0F172A"/>
                </a:solidFill>
              </a:defRPr>
            </a:pPr>
            <a:r>
              <a:t>• 3,000 Hours Wasted: 15 Senior Analysts × 80 reports/year</a:t>
            </a:r>
          </a:p>
          <a:p>
            <a:pPr>
              <a:spcAft>
                <a:spcPts val="600"/>
              </a:spcAft>
              <a:defRPr sz="1200">
                <a:solidFill>
                  <a:srgbClr val="0F172A"/>
                </a:solidFill>
              </a:defRPr>
            </a:pPr>
            <a:r>
              <a:t>• $270,000 Direct Spend: 3,000 hrs at $90/hr loaded FSI rate</a:t>
            </a:r>
          </a:p>
          <a:p>
            <a:pPr>
              <a:spcAft>
                <a:spcPts val="600"/>
              </a:spcAft>
              <a:defRPr sz="1200">
                <a:solidFill>
                  <a:srgbClr val="0F172A"/>
                </a:solidFill>
              </a:defRPr>
            </a:pPr>
            <a:r>
              <a:t>• 1.5 FTE Drain: Analysts locked in manual document parsing</a:t>
            </a:r>
          </a:p>
          <a:p>
            <a:pPr>
              <a:spcAft>
                <a:spcPts val="600"/>
              </a:spcAft>
              <a:defRPr sz="1200">
                <a:solidFill>
                  <a:srgbClr val="0F172A"/>
                </a:solidFill>
              </a:defRPr>
            </a:pPr>
            <a:r>
              <a:t>• 3-Day Turnaround: Slow process delays portfolio decisions</a:t>
            </a:r>
          </a:p>
        </p:txBody>
      </p:sp>
      <p:sp>
        <p:nvSpPr>
          <p:cNvPr id="6" name="Rounded Rectangle 5"/>
          <p:cNvSpPr/>
          <p:nvPr/>
        </p:nvSpPr>
        <p:spPr>
          <a:xfrm>
            <a:off x="62179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Why Standard LLMs Fail in Finance</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Math Hallucinations: Probabilistic LLM calculations fail in finance</a:t>
            </a:r>
          </a:p>
          <a:p>
            <a:pPr>
              <a:spcAft>
                <a:spcPts val="600"/>
              </a:spcAft>
              <a:defRPr sz="1200">
                <a:solidFill>
                  <a:srgbClr val="0F172A"/>
                </a:solidFill>
              </a:defRPr>
            </a:pPr>
            <a:r>
              <a:t>• No Paragraph Auditability: Black-box text prevents citation tracing</a:t>
            </a:r>
          </a:p>
          <a:p>
            <a:pPr>
              <a:spcAft>
                <a:spcPts val="600"/>
              </a:spcAft>
              <a:defRPr sz="1200">
                <a:solidFill>
                  <a:srgbClr val="0F172A"/>
                </a:solidFill>
              </a:defRPr>
            </a:pPr>
            <a:r>
              <a:t>• Security &amp; Privacy Risks: Public APIs violate compliance perimeters</a:t>
            </a:r>
          </a:p>
          <a:p>
            <a:pPr>
              <a:spcAft>
                <a:spcPts val="600"/>
              </a:spcAft>
              <a:defRPr sz="1200">
                <a:solidFill>
                  <a:srgbClr val="0F172A"/>
                </a:solidFill>
              </a:defRPr>
            </a:pPr>
            <a:r>
              <a:t>• High Latency: 15s+ pre-fill delay on 300-page filings without CAG</a:t>
            </a:r>
          </a:p>
        </p:txBody>
      </p:sp>
      <p:sp>
        <p:nvSpPr>
          <p:cNvPr id="9" name="Rectangle 8"/>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Target User Journey &amp; Operational Transformation</a:t>
            </a:r>
          </a:p>
          <a:p>
            <a:pPr>
              <a:defRPr sz="1300">
                <a:solidFill>
                  <a:srgbClr val="1A73E8"/>
                </a:solidFill>
              </a:defRPr>
            </a:pPr>
            <a:r>
              <a:t>Reclaiming 2,900 Hours of Analyst Time via Grounded AI</a:t>
            </a:r>
          </a:p>
        </p:txBody>
      </p:sp>
      <p:sp>
        <p:nvSpPr>
          <p:cNvPr id="3" name="Rounded Rectangle 2"/>
          <p:cNvSpPr/>
          <p:nvPr/>
        </p:nvSpPr>
        <p:spPr>
          <a:xfrm>
            <a:off x="7315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Legacy Manual Analyst Workflow</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1. SEC EDGAR Search: Manually download multi-year 10-K PDFs</a:t>
            </a:r>
          </a:p>
          <a:p>
            <a:pPr>
              <a:spcAft>
                <a:spcPts val="600"/>
              </a:spcAft>
              <a:defRPr sz="1200">
                <a:solidFill>
                  <a:srgbClr val="0F172A"/>
                </a:solidFill>
              </a:defRPr>
            </a:pPr>
            <a:r>
              <a:t>• 2. Document Parsing: Skim 300+ pages of footnotes &amp; MD&amp;A</a:t>
            </a:r>
          </a:p>
          <a:p>
            <a:pPr>
              <a:spcAft>
                <a:spcPts val="600"/>
              </a:spcAft>
              <a:defRPr sz="1200">
                <a:solidFill>
                  <a:srgbClr val="0F172A"/>
                </a:solidFill>
              </a:defRPr>
            </a:pPr>
            <a:r>
              <a:t>• 3. Spreadsheet Math: Copy metrics to Excel for YoY growth</a:t>
            </a:r>
          </a:p>
          <a:p>
            <a:pPr>
              <a:spcAft>
                <a:spcPts val="600"/>
              </a:spcAft>
              <a:defRPr sz="1200">
                <a:solidFill>
                  <a:srgbClr val="0F172A"/>
                </a:solidFill>
              </a:defRPr>
            </a:pPr>
            <a:r>
              <a:t>• 4. Memo Drafting: Write summary reports manually in Word</a:t>
            </a:r>
          </a:p>
          <a:p>
            <a:pPr>
              <a:spcAft>
                <a:spcPts val="600"/>
              </a:spcAft>
              <a:defRPr sz="1200">
                <a:solidFill>
                  <a:srgbClr val="0F172A"/>
                </a:solidFill>
              </a:defRPr>
            </a:pPr>
            <a:r>
              <a:t>• Total Time: 150 mins per report | High Error Risk</a:t>
            </a:r>
          </a:p>
        </p:txBody>
      </p:sp>
      <p:sp>
        <p:nvSpPr>
          <p:cNvPr id="6" name="Rounded Rectangle 5"/>
          <p:cNvSpPr/>
          <p:nvPr/>
        </p:nvSpPr>
        <p:spPr>
          <a:xfrm>
            <a:off x="6217920" y="1645920"/>
            <a:ext cx="5212080" cy="4389120"/>
          </a:xfrm>
          <a:prstGeom prst="roundRect">
            <a:avLst/>
          </a:prstGeom>
          <a:solidFill>
            <a:srgbClr val="F8FAFC"/>
          </a:solidFill>
          <a:ln w="1905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Grounded Agentic Workflow (After)</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1. Natural Language Prompt: 'Compare Tesla 2022 vs 2023 Revenue &amp; Risks'</a:t>
            </a:r>
          </a:p>
          <a:p>
            <a:pPr>
              <a:spcAft>
                <a:spcPts val="600"/>
              </a:spcAft>
              <a:defRPr sz="1200">
                <a:solidFill>
                  <a:srgbClr val="0F172A"/>
                </a:solidFill>
              </a:defRPr>
            </a:pPr>
            <a:r>
              <a:t>• 2. ADK Orchestration: SQL lookup + Python math + Vertex search</a:t>
            </a:r>
          </a:p>
          <a:p>
            <a:pPr>
              <a:spcAft>
                <a:spcPts val="600"/>
              </a:spcAft>
              <a:defRPr sz="1200">
                <a:solidFill>
                  <a:srgbClr val="0F172A"/>
                </a:solidFill>
              </a:defRPr>
            </a:pPr>
            <a:r>
              <a:t>• 3. Split-Pane Verification: Click citations to inspect 10-K excerpts</a:t>
            </a:r>
          </a:p>
          <a:p>
            <a:pPr>
              <a:spcAft>
                <a:spcPts val="600"/>
              </a:spcAft>
              <a:defRPr sz="1200">
                <a:solidFill>
                  <a:srgbClr val="0F172A"/>
                </a:solidFill>
              </a:defRPr>
            </a:pPr>
            <a:r>
              <a:t>• 4. HITL Approval Gate: One-click verified report export</a:t>
            </a:r>
          </a:p>
          <a:p>
            <a:pPr>
              <a:spcAft>
                <a:spcPts val="600"/>
              </a:spcAft>
              <a:defRPr sz="1200">
                <a:solidFill>
                  <a:srgbClr val="0F172A"/>
                </a:solidFill>
              </a:defRPr>
            </a:pPr>
            <a:r>
              <a:t>• Total Time: &lt; 5 mins per report | 100% Math Precision</a:t>
            </a:r>
          </a:p>
        </p:txBody>
      </p:sp>
      <p:sp>
        <p:nvSpPr>
          <p:cNvPr id="9" name="Rectangle 8"/>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System Requirements &amp; Production SLAs</a:t>
            </a:r>
          </a:p>
          <a:p>
            <a:pPr>
              <a:defRPr sz="1300">
                <a:solidFill>
                  <a:srgbClr val="1A73E8"/>
                </a:solidFill>
              </a:defRPr>
            </a:pPr>
            <a:r>
              <a:t>Core System Capabilities &amp; Empirical Performance Thresholds</a:t>
            </a:r>
          </a:p>
        </p:txBody>
      </p:sp>
      <p:sp>
        <p:nvSpPr>
          <p:cNvPr id="3" name="Rounded Rectangle 2"/>
          <p:cNvSpPr/>
          <p:nvPr/>
        </p:nvSpPr>
        <p:spPr>
          <a:xfrm>
            <a:off x="731520" y="1645920"/>
            <a:ext cx="2468880" cy="2194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37360"/>
            <a:ext cx="2286000" cy="2011680"/>
          </a:xfrm>
          <a:prstGeom prst="rect">
            <a:avLst/>
          </a:prstGeom>
          <a:noFill/>
        </p:spPr>
        <p:txBody>
          <a:bodyPr wrap="square">
            <a:spAutoFit/>
          </a:bodyPr>
          <a:lstStyle/>
          <a:p>
            <a:pPr>
              <a:defRPr sz="3600" b="1">
                <a:solidFill>
                  <a:srgbClr val="1A73E8"/>
                </a:solidFill>
              </a:defRPr>
            </a:pPr>
            <a:r>
              <a:t>100%</a:t>
            </a:r>
          </a:p>
          <a:p>
            <a:pPr>
              <a:defRPr sz="1300" b="1">
                <a:solidFill>
                  <a:srgbClr val="0F172A"/>
                </a:solidFill>
              </a:defRPr>
            </a:pPr>
            <a:r>
              <a:t>Math Accuracy</a:t>
            </a:r>
          </a:p>
          <a:p>
            <a:pPr>
              <a:defRPr sz="1000">
                <a:solidFill>
                  <a:srgbClr val="64748B"/>
                </a:solidFill>
              </a:defRPr>
            </a:pPr>
            <a:r>
              <a:t>Zero-LLM sandboxed Python engine</a:t>
            </a:r>
          </a:p>
        </p:txBody>
      </p:sp>
      <p:sp>
        <p:nvSpPr>
          <p:cNvPr id="5" name="Rounded Rectangle 4"/>
          <p:cNvSpPr/>
          <p:nvPr/>
        </p:nvSpPr>
        <p:spPr>
          <a:xfrm>
            <a:off x="3474720" y="1645920"/>
            <a:ext cx="2468880" cy="2194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737360"/>
            <a:ext cx="2286000" cy="2011680"/>
          </a:xfrm>
          <a:prstGeom prst="rect">
            <a:avLst/>
          </a:prstGeom>
          <a:noFill/>
        </p:spPr>
        <p:txBody>
          <a:bodyPr wrap="square">
            <a:spAutoFit/>
          </a:bodyPr>
          <a:lstStyle/>
          <a:p>
            <a:pPr>
              <a:defRPr sz="3600" b="1">
                <a:solidFill>
                  <a:srgbClr val="1A73E8"/>
                </a:solidFill>
              </a:defRPr>
            </a:pPr>
            <a:r>
              <a:t>≥ 92%</a:t>
            </a:r>
          </a:p>
          <a:p>
            <a:pPr>
              <a:defRPr sz="1300" b="1">
                <a:solidFill>
                  <a:srgbClr val="0F172A"/>
                </a:solidFill>
              </a:defRPr>
            </a:pPr>
            <a:r>
              <a:t>Grounded Precision</a:t>
            </a:r>
          </a:p>
          <a:p>
            <a:pPr>
              <a:defRPr sz="1000">
                <a:solidFill>
                  <a:srgbClr val="64748B"/>
                </a:solidFill>
              </a:defRPr>
            </a:pPr>
            <a:r>
              <a:t>Paragraph-level 10-K citations</a:t>
            </a:r>
          </a:p>
        </p:txBody>
      </p:sp>
      <p:sp>
        <p:nvSpPr>
          <p:cNvPr id="7" name="Rounded Rectangle 6"/>
          <p:cNvSpPr/>
          <p:nvPr/>
        </p:nvSpPr>
        <p:spPr>
          <a:xfrm>
            <a:off x="6217920" y="1645920"/>
            <a:ext cx="2468880" cy="2194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59" y="1737360"/>
            <a:ext cx="2286000" cy="2011680"/>
          </a:xfrm>
          <a:prstGeom prst="rect">
            <a:avLst/>
          </a:prstGeom>
          <a:noFill/>
        </p:spPr>
        <p:txBody>
          <a:bodyPr wrap="square">
            <a:spAutoFit/>
          </a:bodyPr>
          <a:lstStyle/>
          <a:p>
            <a:pPr>
              <a:defRPr sz="3600" b="1">
                <a:solidFill>
                  <a:srgbClr val="1A73E8"/>
                </a:solidFill>
              </a:defRPr>
            </a:pPr>
            <a:r>
              <a:t>&lt; 3.0s</a:t>
            </a:r>
          </a:p>
          <a:p>
            <a:pPr>
              <a:defRPr sz="1300" b="1">
                <a:solidFill>
                  <a:srgbClr val="0F172A"/>
                </a:solidFill>
              </a:defRPr>
            </a:pPr>
            <a:r>
              <a:t>Latency SLA</a:t>
            </a:r>
          </a:p>
          <a:p>
            <a:pPr>
              <a:defRPr sz="1000">
                <a:solidFill>
                  <a:srgbClr val="64748B"/>
                </a:solidFill>
              </a:defRPr>
            </a:pPr>
            <a:r>
              <a:t>1.31s benchmark execution avg</a:t>
            </a:r>
          </a:p>
        </p:txBody>
      </p:sp>
      <p:sp>
        <p:nvSpPr>
          <p:cNvPr id="9" name="Rounded Rectangle 8"/>
          <p:cNvSpPr/>
          <p:nvPr/>
        </p:nvSpPr>
        <p:spPr>
          <a:xfrm>
            <a:off x="8961120" y="1645920"/>
            <a:ext cx="2468880" cy="2194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0" y="1737360"/>
            <a:ext cx="2286000" cy="2011680"/>
          </a:xfrm>
          <a:prstGeom prst="rect">
            <a:avLst/>
          </a:prstGeom>
          <a:noFill/>
        </p:spPr>
        <p:txBody>
          <a:bodyPr wrap="square">
            <a:spAutoFit/>
          </a:bodyPr>
          <a:lstStyle/>
          <a:p>
            <a:pPr>
              <a:defRPr sz="3600" b="1">
                <a:solidFill>
                  <a:srgbClr val="1A73E8"/>
                </a:solidFill>
              </a:defRPr>
            </a:pPr>
            <a:r>
              <a:t>100%</a:t>
            </a:r>
          </a:p>
          <a:p>
            <a:pPr>
              <a:defRPr sz="1300" b="1">
                <a:solidFill>
                  <a:srgbClr val="0F172A"/>
                </a:solidFill>
              </a:defRPr>
            </a:pPr>
            <a:r>
              <a:t>Compliance &amp; Audit</a:t>
            </a:r>
          </a:p>
          <a:p>
            <a:pPr>
              <a:defRPr sz="1000">
                <a:solidFill>
                  <a:srgbClr val="64748B"/>
                </a:solidFill>
              </a:defRPr>
            </a:pPr>
            <a:r>
              <a:t>Model Armor &amp; VPC-SC perimeter</a:t>
            </a:r>
          </a:p>
        </p:txBody>
      </p:sp>
      <p:sp>
        <p:nvSpPr>
          <p:cNvPr id="11" name="Rounded Rectangle 10"/>
          <p:cNvSpPr/>
          <p:nvPr/>
        </p:nvSpPr>
        <p:spPr>
          <a:xfrm>
            <a:off x="731520" y="4114800"/>
            <a:ext cx="10728655" cy="20116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97680"/>
            <a:ext cx="10362895" cy="457200"/>
          </a:xfrm>
          <a:prstGeom prst="rect">
            <a:avLst/>
          </a:prstGeom>
          <a:noFill/>
        </p:spPr>
        <p:txBody>
          <a:bodyPr wrap="square">
            <a:spAutoFit/>
          </a:bodyPr>
          <a:lstStyle/>
          <a:p>
            <a:pPr>
              <a:defRPr sz="1600" b="1">
                <a:solidFill>
                  <a:srgbClr val="0F172A"/>
                </a:solidFill>
              </a:defRPr>
            </a:pPr>
            <a:r>
              <a:t>Key Functional Requirements</a:t>
            </a:r>
          </a:p>
        </p:txBody>
      </p:sp>
      <p:sp>
        <p:nvSpPr>
          <p:cNvPr id="13" name="TextBox 12"/>
          <p:cNvSpPr txBox="1"/>
          <p:nvPr/>
        </p:nvSpPr>
        <p:spPr>
          <a:xfrm>
            <a:off x="914400" y="4572000"/>
            <a:ext cx="10332720" cy="1371600"/>
          </a:xfrm>
          <a:prstGeom prst="rect">
            <a:avLst/>
          </a:prstGeom>
          <a:noFill/>
        </p:spPr>
        <p:txBody>
          <a:bodyPr wrap="square" lIns="0" tIns="0" rIns="0" bIns="0">
            <a:spAutoFit/>
          </a:bodyPr>
          <a:lstStyle/>
          <a:p>
            <a:pPr>
              <a:spcAft>
                <a:spcPts val="600"/>
              </a:spcAft>
              <a:defRPr sz="1200">
                <a:solidFill>
                  <a:srgbClr val="0F172A"/>
                </a:solidFill>
              </a:defRPr>
            </a:pPr>
            <a:r>
              <a:t>• Deterministic numerical calculations for verifiable financial reporting</a:t>
            </a:r>
          </a:p>
          <a:p>
            <a:pPr>
              <a:spcAft>
                <a:spcPts val="600"/>
              </a:spcAft>
              <a:defRPr sz="1200">
                <a:solidFill>
                  <a:srgbClr val="0F172A"/>
                </a:solidFill>
              </a:defRPr>
            </a:pPr>
            <a:r>
              <a:t>• Dual-path hybrid search merging BigQuery SQL metrics with Vertex AI Search DataStore passages</a:t>
            </a:r>
          </a:p>
          <a:p>
            <a:pPr>
              <a:spcAft>
                <a:spcPts val="600"/>
              </a:spcAft>
              <a:defRPr sz="1200">
                <a:solidFill>
                  <a:srgbClr val="0F172A"/>
                </a:solidFill>
              </a:defRPr>
            </a:pPr>
            <a:r>
              <a:t>• Split-pane UI rendering grounded inline citations linking back to GCS filings</a:t>
            </a:r>
          </a:p>
          <a:p>
            <a:pPr>
              <a:spcAft>
                <a:spcPts val="600"/>
              </a:spcAft>
              <a:defRPr sz="1200">
                <a:solidFill>
                  <a:srgbClr val="0F172A"/>
                </a:solidFill>
              </a:defRPr>
            </a:pPr>
            <a:r>
              <a:t>• Human-in-the-loop (HITL) approval gate for all report exports</a:t>
            </a:r>
          </a:p>
        </p:txBody>
      </p:sp>
      <p:sp>
        <p:nvSpPr>
          <p:cNvPr id="14" name="Rectangle 13"/>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Live Product Demo &amp; Interface Experience</a:t>
            </a:r>
          </a:p>
          <a:p>
            <a:pPr>
              <a:defRPr sz="1300">
                <a:solidFill>
                  <a:srgbClr val="1A73E8"/>
                </a:solidFill>
              </a:defRPr>
            </a:pPr>
            <a:r>
              <a:t>Interactive Split-Pane View, Grounded Citations, &amp; A2UI Protocol</a:t>
            </a:r>
          </a:p>
        </p:txBody>
      </p:sp>
      <p:sp>
        <p:nvSpPr>
          <p:cNvPr id="3" name="Rounded Rectangle 2"/>
          <p:cNvSpPr/>
          <p:nvPr/>
        </p:nvSpPr>
        <p:spPr>
          <a:xfrm>
            <a:off x="731520" y="1645920"/>
            <a:ext cx="548640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5120640" cy="457200"/>
          </a:xfrm>
          <a:prstGeom prst="rect">
            <a:avLst/>
          </a:prstGeom>
          <a:noFill/>
        </p:spPr>
        <p:txBody>
          <a:bodyPr wrap="square">
            <a:spAutoFit/>
          </a:bodyPr>
          <a:lstStyle/>
          <a:p>
            <a:pPr>
              <a:defRPr sz="1600" b="1">
                <a:solidFill>
                  <a:srgbClr val="0F172A"/>
                </a:solidFill>
              </a:defRPr>
            </a:pPr>
            <a:r>
              <a:t>Analyst User Experience (UI Breakdown)</a:t>
            </a:r>
          </a:p>
        </p:txBody>
      </p:sp>
      <p:sp>
        <p:nvSpPr>
          <p:cNvPr id="5" name="TextBox 4"/>
          <p:cNvSpPr txBox="1"/>
          <p:nvPr/>
        </p:nvSpPr>
        <p:spPr>
          <a:xfrm>
            <a:off x="914400" y="2286000"/>
            <a:ext cx="5120640" cy="3474720"/>
          </a:xfrm>
          <a:prstGeom prst="rect">
            <a:avLst/>
          </a:prstGeom>
          <a:noFill/>
        </p:spPr>
        <p:txBody>
          <a:bodyPr wrap="square" lIns="0" tIns="0" rIns="0" bIns="0">
            <a:spAutoFit/>
          </a:bodyPr>
          <a:lstStyle/>
          <a:p>
            <a:pPr>
              <a:spcAft>
                <a:spcPts val="600"/>
              </a:spcAft>
              <a:defRPr sz="1200">
                <a:solidFill>
                  <a:srgbClr val="0F172A"/>
                </a:solidFill>
              </a:defRPr>
            </a:pPr>
            <a:r>
              <a:t>• 1. Split-Pane Architecture: Left pane for AI narrative; right pane for full-text 10-K viewer</a:t>
            </a:r>
          </a:p>
          <a:p>
            <a:pPr>
              <a:spcAft>
                <a:spcPts val="600"/>
              </a:spcAft>
              <a:defRPr sz="1200">
                <a:solidFill>
                  <a:srgbClr val="0F172A"/>
                </a:solidFill>
              </a:defRPr>
            </a:pPr>
            <a:r>
              <a:t>• 2. Grounded Citation Links: Clicking &lt;mark&gt; tags jumps right pane to exact GCS paragraph</a:t>
            </a:r>
          </a:p>
          <a:p>
            <a:pPr>
              <a:spcAft>
                <a:spcPts val="600"/>
              </a:spcAft>
              <a:defRPr sz="1200">
                <a:solidFill>
                  <a:srgbClr val="0F172A"/>
                </a:solidFill>
              </a:defRPr>
            </a:pPr>
            <a:r>
              <a:t>• 3. Dynamic A2UI Protocol: Auto-renders structured JSON specs as formatted tables &amp; charts</a:t>
            </a:r>
          </a:p>
          <a:p>
            <a:pPr>
              <a:spcAft>
                <a:spcPts val="600"/>
              </a:spcAft>
              <a:defRPr sz="1200">
                <a:solidFill>
                  <a:srgbClr val="0F172A"/>
                </a:solidFill>
              </a:defRPr>
            </a:pPr>
            <a:r>
              <a:t>• 4. Human-in-the-Loop Gate: Mandatory confirmation modal before report export</a:t>
            </a:r>
          </a:p>
        </p:txBody>
      </p:sp>
      <p:sp>
        <p:nvSpPr>
          <p:cNvPr id="6" name="Rounded Rectangle 5"/>
          <p:cNvSpPr/>
          <p:nvPr/>
        </p:nvSpPr>
        <p:spPr>
          <a:xfrm>
            <a:off x="6492240" y="1645920"/>
            <a:ext cx="4937760" cy="4389120"/>
          </a:xfrm>
          <a:prstGeom prst="roundRect">
            <a:avLst/>
          </a:prstGeom>
          <a:solidFill>
            <a:srgbClr val="F8FAFC"/>
          </a:solidFill>
          <a:ln w="1905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828800"/>
            <a:ext cx="4572000" cy="457200"/>
          </a:xfrm>
          <a:prstGeom prst="rect">
            <a:avLst/>
          </a:prstGeom>
          <a:noFill/>
        </p:spPr>
        <p:txBody>
          <a:bodyPr wrap="square">
            <a:spAutoFit/>
          </a:bodyPr>
          <a:lstStyle/>
          <a:p>
            <a:pPr>
              <a:defRPr sz="1600" b="1">
                <a:solidFill>
                  <a:srgbClr val="0F172A"/>
                </a:solidFill>
              </a:defRPr>
            </a:pPr>
            <a:r>
              <a:t>UI Architecture Mockup</a:t>
            </a:r>
          </a:p>
        </p:txBody>
      </p:sp>
      <p:sp>
        <p:nvSpPr>
          <p:cNvPr id="8" name="TextBox 7"/>
          <p:cNvSpPr txBox="1"/>
          <p:nvPr/>
        </p:nvSpPr>
        <p:spPr>
          <a:xfrm>
            <a:off x="6675120" y="2286000"/>
            <a:ext cx="4572000" cy="3474720"/>
          </a:xfrm>
          <a:prstGeom prst="rect">
            <a:avLst/>
          </a:prstGeom>
          <a:noFill/>
        </p:spPr>
        <p:txBody>
          <a:bodyPr wrap="square">
            <a:spAutoFit/>
          </a:bodyPr>
          <a:lstStyle/>
          <a:p>
            <a:pPr>
              <a:defRPr sz="1200">
                <a:solidFill>
                  <a:srgbClr val="1A73E8"/>
                </a:solidFill>
              </a:defRPr>
            </a:pPr>
            <a:r>
              <a:t>[ LEFT PANE: Agent Chat &amp; A2UI ]</a:t>
            </a:r>
            <a:br/>
            <a:r>
              <a:t>• User Query</a:t>
            </a:r>
            <a:br/>
            <a:r>
              <a:t>• Grounded Narrative + Citations</a:t>
            </a:r>
            <a:br/>
            <a:r>
              <a:t>• Dynamic Variance Table</a:t>
            </a:r>
            <a:br/>
            <a:br/>
            <a:r>
              <a:t>[ RIGHT PANE: Grounded Document ]</a:t>
            </a:r>
            <a:br/>
            <a:r>
              <a:t>• Highlighted 10-K Excerpt (Item 7 MD&amp;A)</a:t>
            </a:r>
            <a:br/>
            <a:r>
              <a:t>• Source: gs://sec-analyst-sec-reports/...</a:t>
            </a:r>
          </a:p>
        </p:txBody>
      </p:sp>
      <p:sp>
        <p:nvSpPr>
          <p:cNvPr id="9" name="Rectangle 8"/>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Solution Overview — The 4 Technical Pillars</a:t>
            </a:r>
          </a:p>
          <a:p>
            <a:pPr>
              <a:defRPr sz="1300">
                <a:solidFill>
                  <a:srgbClr val="1A73E8"/>
                </a:solidFill>
              </a:defRPr>
            </a:pPr>
            <a:r>
              <a:t>Enterprise-Grade Financial Architecture on Google Cloud</a:t>
            </a:r>
          </a:p>
        </p:txBody>
      </p:sp>
      <p:sp>
        <p:nvSpPr>
          <p:cNvPr id="3" name="Rounded Rectangle 2"/>
          <p:cNvSpPr/>
          <p:nvPr/>
        </p:nvSpPr>
        <p:spPr>
          <a:xfrm>
            <a:off x="731520" y="1645920"/>
            <a:ext cx="5212080" cy="2057400"/>
          </a:xfrm>
          <a:prstGeom prst="roundRect">
            <a:avLst/>
          </a:prstGeom>
          <a:solidFill>
            <a:srgbClr val="F8FAFC"/>
          </a:solidFill>
          <a:ln w="1905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Pillar 1: Agentic Core (ADK)</a:t>
            </a:r>
          </a:p>
        </p:txBody>
      </p:sp>
      <p:sp>
        <p:nvSpPr>
          <p:cNvPr id="5" name="TextBox 4"/>
          <p:cNvSpPr txBox="1"/>
          <p:nvPr/>
        </p:nvSpPr>
        <p:spPr>
          <a:xfrm>
            <a:off x="914400" y="2286000"/>
            <a:ext cx="4846320" cy="1280160"/>
          </a:xfrm>
          <a:prstGeom prst="rect">
            <a:avLst/>
          </a:prstGeom>
          <a:noFill/>
        </p:spPr>
        <p:txBody>
          <a:bodyPr wrap="square" lIns="0" tIns="0" rIns="0" bIns="0">
            <a:spAutoFit/>
          </a:bodyPr>
          <a:lstStyle/>
          <a:p>
            <a:pPr>
              <a:spcAft>
                <a:spcPts val="600"/>
              </a:spcAft>
              <a:defRPr sz="1200">
                <a:solidFill>
                  <a:srgbClr val="0F172A"/>
                </a:solidFill>
              </a:defRPr>
            </a:pPr>
            <a:r>
              <a:t>• Google Agent Development Kit RootOrchestrator with Supervisor pattern &amp; Search Sub-Agent.</a:t>
            </a:r>
          </a:p>
        </p:txBody>
      </p:sp>
      <p:sp>
        <p:nvSpPr>
          <p:cNvPr id="6" name="Rounded Rectangle 5"/>
          <p:cNvSpPr/>
          <p:nvPr/>
        </p:nvSpPr>
        <p:spPr>
          <a:xfrm>
            <a:off x="6217920" y="1645920"/>
            <a:ext cx="5212080" cy="2057400"/>
          </a:xfrm>
          <a:prstGeom prst="roundRect">
            <a:avLst/>
          </a:prstGeom>
          <a:solidFill>
            <a:srgbClr val="F8FAFC"/>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Pillar 2: Decoupled Math Engine</a:t>
            </a:r>
          </a:p>
        </p:txBody>
      </p:sp>
      <p:sp>
        <p:nvSpPr>
          <p:cNvPr id="8" name="TextBox 7"/>
          <p:cNvSpPr txBox="1"/>
          <p:nvPr/>
        </p:nvSpPr>
        <p:spPr>
          <a:xfrm>
            <a:off x="6400800" y="2286000"/>
            <a:ext cx="4846320" cy="1280160"/>
          </a:xfrm>
          <a:prstGeom prst="rect">
            <a:avLst/>
          </a:prstGeom>
          <a:noFill/>
        </p:spPr>
        <p:txBody>
          <a:bodyPr wrap="square" lIns="0" tIns="0" rIns="0" bIns="0">
            <a:spAutoFit/>
          </a:bodyPr>
          <a:lstStyle/>
          <a:p>
            <a:pPr>
              <a:spcAft>
                <a:spcPts val="600"/>
              </a:spcAft>
              <a:defRPr sz="1200">
                <a:solidFill>
                  <a:srgbClr val="0F172A"/>
                </a:solidFill>
              </a:defRPr>
            </a:pPr>
            <a:r>
              <a:t>• Sandboxed Python solver (calculation_engine.py) for 100% computational accuracy.</a:t>
            </a:r>
          </a:p>
        </p:txBody>
      </p:sp>
      <p:sp>
        <p:nvSpPr>
          <p:cNvPr id="9" name="Rounded Rectangle 8"/>
          <p:cNvSpPr/>
          <p:nvPr/>
        </p:nvSpPr>
        <p:spPr>
          <a:xfrm>
            <a:off x="731520" y="3931920"/>
            <a:ext cx="5212080" cy="2057400"/>
          </a:xfrm>
          <a:prstGeom prst="roundRect">
            <a:avLst/>
          </a:prstGeom>
          <a:solidFill>
            <a:srgbClr val="F8FAFC"/>
          </a:solidFill>
          <a:ln w="19050">
            <a:solidFill>
              <a:srgbClr val="FBBC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14800"/>
            <a:ext cx="4846320" cy="457200"/>
          </a:xfrm>
          <a:prstGeom prst="rect">
            <a:avLst/>
          </a:prstGeom>
          <a:noFill/>
        </p:spPr>
        <p:txBody>
          <a:bodyPr wrap="square">
            <a:spAutoFit/>
          </a:bodyPr>
          <a:lstStyle/>
          <a:p>
            <a:pPr>
              <a:defRPr sz="1600" b="1">
                <a:solidFill>
                  <a:srgbClr val="0F172A"/>
                </a:solidFill>
              </a:defRPr>
            </a:pPr>
            <a:r>
              <a:t>Pillar 3: Hybrid Search RAG</a:t>
            </a:r>
          </a:p>
        </p:txBody>
      </p:sp>
      <p:sp>
        <p:nvSpPr>
          <p:cNvPr id="11" name="TextBox 10"/>
          <p:cNvSpPr txBox="1"/>
          <p:nvPr/>
        </p:nvSpPr>
        <p:spPr>
          <a:xfrm>
            <a:off x="914400" y="4572000"/>
            <a:ext cx="4846320" cy="1280160"/>
          </a:xfrm>
          <a:prstGeom prst="rect">
            <a:avLst/>
          </a:prstGeom>
          <a:noFill/>
        </p:spPr>
        <p:txBody>
          <a:bodyPr wrap="square" lIns="0" tIns="0" rIns="0" bIns="0">
            <a:spAutoFit/>
          </a:bodyPr>
          <a:lstStyle/>
          <a:p>
            <a:pPr>
              <a:spcAft>
                <a:spcPts val="600"/>
              </a:spcAft>
              <a:defRPr sz="1200">
                <a:solidFill>
                  <a:srgbClr val="0F172A"/>
                </a:solidFill>
              </a:defRPr>
            </a:pPr>
            <a:r>
              <a:t>• BigQuery SQL (structured metrics) + Vertex AI Search DataStore Grounding (10-K passages).</a:t>
            </a:r>
          </a:p>
        </p:txBody>
      </p:sp>
      <p:sp>
        <p:nvSpPr>
          <p:cNvPr id="12" name="Rounded Rectangle 11"/>
          <p:cNvSpPr/>
          <p:nvPr/>
        </p:nvSpPr>
        <p:spPr>
          <a:xfrm>
            <a:off x="6217920" y="3931920"/>
            <a:ext cx="5212080" cy="2057400"/>
          </a:xfrm>
          <a:prstGeom prst="roundRect">
            <a:avLst/>
          </a:prstGeom>
          <a:solidFill>
            <a:srgbClr val="F8FAFC"/>
          </a:solidFill>
          <a:ln w="19050">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14800"/>
            <a:ext cx="4846320" cy="457200"/>
          </a:xfrm>
          <a:prstGeom prst="rect">
            <a:avLst/>
          </a:prstGeom>
          <a:noFill/>
        </p:spPr>
        <p:txBody>
          <a:bodyPr wrap="square">
            <a:spAutoFit/>
          </a:bodyPr>
          <a:lstStyle/>
          <a:p>
            <a:pPr>
              <a:defRPr sz="1600" b="1">
                <a:solidFill>
                  <a:srgbClr val="0F172A"/>
                </a:solidFill>
              </a:defRPr>
            </a:pPr>
            <a:r>
              <a:t>Pillar 4: Security Perimeter</a:t>
            </a:r>
          </a:p>
        </p:txBody>
      </p:sp>
      <p:sp>
        <p:nvSpPr>
          <p:cNvPr id="14" name="TextBox 13"/>
          <p:cNvSpPr txBox="1"/>
          <p:nvPr/>
        </p:nvSpPr>
        <p:spPr>
          <a:xfrm>
            <a:off x="6400800" y="4572000"/>
            <a:ext cx="4846320" cy="1280160"/>
          </a:xfrm>
          <a:prstGeom prst="rect">
            <a:avLst/>
          </a:prstGeom>
          <a:noFill/>
        </p:spPr>
        <p:txBody>
          <a:bodyPr wrap="square" lIns="0" tIns="0" rIns="0" bIns="0">
            <a:spAutoFit/>
          </a:bodyPr>
          <a:lstStyle/>
          <a:p>
            <a:pPr>
              <a:spcAft>
                <a:spcPts val="600"/>
              </a:spcAft>
              <a:defRPr sz="1200">
                <a:solidFill>
                  <a:srgbClr val="0F172A"/>
                </a:solidFill>
              </a:defRPr>
            </a:pPr>
            <a:r>
              <a:t>• VPC-SC perimeter, Model Armor ingress/egress callbacks, DLP PII redaction, &amp; HITL gate.</a:t>
            </a:r>
          </a:p>
        </p:txBody>
      </p:sp>
      <p:sp>
        <p:nvSpPr>
          <p:cNvPr id="15" name="Rectangle 14"/>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End-to-End System Architecture Overview</a:t>
            </a:r>
          </a:p>
          <a:p>
            <a:pPr>
              <a:defRPr sz="1300">
                <a:solidFill>
                  <a:srgbClr val="1A73E8"/>
                </a:solidFill>
              </a:defRPr>
            </a:pPr>
            <a:r>
              <a:t>Detailed Data Flow across Presentation, API, ADK Core, &amp; GCP Data Foundation</a:t>
            </a:r>
          </a:p>
        </p:txBody>
      </p:sp>
      <p:sp>
        <p:nvSpPr>
          <p:cNvPr id="3" name="Rounded Rectangle 2"/>
          <p:cNvSpPr/>
          <p:nvPr/>
        </p:nvSpPr>
        <p:spPr>
          <a:xfrm>
            <a:off x="731520" y="1645920"/>
            <a:ext cx="10728655"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457200"/>
          </a:xfrm>
          <a:prstGeom prst="rect">
            <a:avLst/>
          </a:prstGeom>
          <a:noFill/>
        </p:spPr>
        <p:txBody>
          <a:bodyPr wrap="square">
            <a:spAutoFit/>
          </a:bodyPr>
          <a:lstStyle/>
          <a:p>
            <a:pPr>
              <a:defRPr sz="1600" b="1">
                <a:solidFill>
                  <a:srgbClr val="0F172A"/>
                </a:solidFill>
              </a:defRPr>
            </a:pPr>
            <a:r>
              <a:t>System Flow Overview</a:t>
            </a:r>
          </a:p>
        </p:txBody>
      </p:sp>
      <p:sp>
        <p:nvSpPr>
          <p:cNvPr id="5" name="TextBox 4"/>
          <p:cNvSpPr txBox="1"/>
          <p:nvPr/>
        </p:nvSpPr>
        <p:spPr>
          <a:xfrm>
            <a:off x="914400" y="2194560"/>
            <a:ext cx="10332720" cy="3657600"/>
          </a:xfrm>
          <a:prstGeom prst="rect">
            <a:avLst/>
          </a:prstGeom>
          <a:noFill/>
        </p:spPr>
        <p:txBody>
          <a:bodyPr wrap="square" lIns="0" tIns="0" rIns="0" bIns="0">
            <a:spAutoFit/>
          </a:bodyPr>
          <a:lstStyle/>
          <a:p>
            <a:pPr>
              <a:spcAft>
                <a:spcPts val="600"/>
              </a:spcAft>
              <a:defRPr sz="1200">
                <a:solidFill>
                  <a:srgbClr val="0F172A"/>
                </a:solidFill>
              </a:defRPr>
            </a:pPr>
            <a:r>
              <a:t>• Presentation Layer: React 18 UI executing Split-Pane context &amp; A2UI spec rendering</a:t>
            </a:r>
          </a:p>
          <a:p>
            <a:pPr>
              <a:spcAft>
                <a:spcPts val="600"/>
              </a:spcAft>
              <a:defRPr sz="1200">
                <a:solidFill>
                  <a:srgbClr val="0F172A"/>
                </a:solidFill>
              </a:defRPr>
            </a:pPr>
            <a:r>
              <a:t>• API &amp; Session Layer: FastAPI on Cloud Run invoking AppController &amp; Session Store</a:t>
            </a:r>
          </a:p>
          <a:p>
            <a:pPr>
              <a:spcAft>
                <a:spcPts val="600"/>
              </a:spcAft>
              <a:defRPr sz="1200">
                <a:solidFill>
                  <a:srgbClr val="0F172A"/>
                </a:solidFill>
              </a:defRPr>
            </a:pPr>
            <a:r>
              <a:t>• Security Ingress: Model Armor callback inspecting prompt streams for jailbreaks &amp; PII</a:t>
            </a:r>
          </a:p>
          <a:p>
            <a:pPr>
              <a:spcAft>
                <a:spcPts val="600"/>
              </a:spcAft>
              <a:defRPr sz="1200">
                <a:solidFill>
                  <a:srgbClr val="0F172A"/>
                </a:solidFill>
              </a:defRPr>
            </a:pPr>
            <a:r>
              <a:t>• Agentic Core: ADK RootOrchestrator applying System Constitution to route requests</a:t>
            </a:r>
          </a:p>
          <a:p>
            <a:pPr>
              <a:spcAft>
                <a:spcPts val="600"/>
              </a:spcAft>
              <a:defRPr sz="1200">
                <a:solidFill>
                  <a:srgbClr val="0F172A"/>
                </a:solidFill>
              </a:defRPr>
            </a:pPr>
            <a:r>
              <a:t>• Tools &amp; Sub-Agents: Query BigQuery Tool, Sandboxed Calculation Tool, Search Sub-Agent, &amp; HITL Export Tool</a:t>
            </a:r>
          </a:p>
          <a:p>
            <a:pPr>
              <a:spcAft>
                <a:spcPts val="600"/>
              </a:spcAft>
              <a:defRPr sz="1200">
                <a:solidFill>
                  <a:srgbClr val="0F172A"/>
                </a:solidFill>
              </a:defRPr>
            </a:pPr>
            <a:r>
              <a:t>• GCP Data Foundation: BigQuery Golden Tables, Vertex AI Search DataStore, &amp; GCS Bucket Filings</a:t>
            </a:r>
          </a:p>
        </p:txBody>
      </p:sp>
      <p:sp>
        <p:nvSpPr>
          <p:cNvPr id="6" name="Rectangle 5"/>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Layer Deep Dive 1 — Presentation Layer &amp; A2UI Protocol</a:t>
            </a:r>
          </a:p>
          <a:p>
            <a:pPr>
              <a:defRPr sz="1300">
                <a:solidFill>
                  <a:srgbClr val="1A73E8"/>
                </a:solidFill>
              </a:defRPr>
            </a:pPr>
            <a:r>
              <a:t>React 18, Split-Pane Grounded Citations, &amp; Structured Visual Protocols</a:t>
            </a:r>
          </a:p>
        </p:txBody>
      </p:sp>
      <p:sp>
        <p:nvSpPr>
          <p:cNvPr id="3" name="Rounded Rectangle 2"/>
          <p:cNvSpPr/>
          <p:nvPr/>
        </p:nvSpPr>
        <p:spPr>
          <a:xfrm>
            <a:off x="7315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Presentation Capabilities</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React 18 + TypeScript: Component architecture</a:t>
            </a:r>
          </a:p>
          <a:p>
            <a:pPr>
              <a:spcAft>
                <a:spcPts val="600"/>
              </a:spcAft>
              <a:defRPr sz="1200">
                <a:solidFill>
                  <a:srgbClr val="0F172A"/>
                </a:solidFill>
              </a:defRPr>
            </a:pPr>
            <a:r>
              <a:t>• Split-Pane Citation Engine: Narrative &amp; 10-K sync</a:t>
            </a:r>
          </a:p>
          <a:p>
            <a:pPr>
              <a:spcAft>
                <a:spcPts val="600"/>
              </a:spcAft>
              <a:defRPr sz="1200">
                <a:solidFill>
                  <a:srgbClr val="0F172A"/>
                </a:solidFill>
              </a:defRPr>
            </a:pPr>
            <a:r>
              <a:t>• Source Tracing: Ticker, Fiscal Year, Form 10-K, &amp; Item 7</a:t>
            </a:r>
          </a:p>
          <a:p>
            <a:pPr>
              <a:spcAft>
                <a:spcPts val="600"/>
              </a:spcAft>
              <a:defRPr sz="1200">
                <a:solidFill>
                  <a:srgbClr val="0F172A"/>
                </a:solidFill>
              </a:defRPr>
            </a:pPr>
            <a:r>
              <a:t>• HITL Gate Modal: Human sign-off before export</a:t>
            </a:r>
          </a:p>
        </p:txBody>
      </p:sp>
      <p:sp>
        <p:nvSpPr>
          <p:cNvPr id="6" name="Rounded Rectangle 5"/>
          <p:cNvSpPr/>
          <p:nvPr/>
        </p:nvSpPr>
        <p:spPr>
          <a:xfrm>
            <a:off x="62179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Technical Trade-Off Matrix</a:t>
            </a:r>
          </a:p>
        </p:txBody>
      </p:sp>
      <p:sp>
        <p:nvSpPr>
          <p:cNvPr id="8" name="Rounded Rectangle 7"/>
          <p:cNvSpPr/>
          <p:nvPr/>
        </p:nvSpPr>
        <p:spPr>
          <a:xfrm>
            <a:off x="6400800" y="2194560"/>
            <a:ext cx="4846320" cy="16459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377440"/>
            <a:ext cx="4480559" cy="457200"/>
          </a:xfrm>
          <a:prstGeom prst="rect">
            <a:avLst/>
          </a:prstGeom>
          <a:noFill/>
        </p:spPr>
        <p:txBody>
          <a:bodyPr wrap="square">
            <a:spAutoFit/>
          </a:bodyPr>
          <a:lstStyle/>
          <a:p>
            <a:pPr>
              <a:defRPr sz="1600" b="1">
                <a:solidFill>
                  <a:srgbClr val="0F172A"/>
                </a:solidFill>
              </a:defRPr>
            </a:pPr>
            <a:r>
              <a:t>Selected: A2UI Protocol</a:t>
            </a:r>
          </a:p>
        </p:txBody>
      </p:sp>
      <p:sp>
        <p:nvSpPr>
          <p:cNvPr id="10" name="TextBox 9"/>
          <p:cNvSpPr txBox="1"/>
          <p:nvPr/>
        </p:nvSpPr>
        <p:spPr>
          <a:xfrm>
            <a:off x="6492240" y="2651760"/>
            <a:ext cx="4663440" cy="1097280"/>
          </a:xfrm>
          <a:prstGeom prst="rect">
            <a:avLst/>
          </a:prstGeom>
          <a:noFill/>
        </p:spPr>
        <p:txBody>
          <a:bodyPr wrap="square" lIns="0" tIns="0" rIns="0" bIns="0">
            <a:spAutoFit/>
          </a:bodyPr>
          <a:lstStyle/>
          <a:p>
            <a:pPr>
              <a:spcAft>
                <a:spcPts val="600"/>
              </a:spcAft>
              <a:defRPr sz="1100">
                <a:solidFill>
                  <a:srgbClr val="0F172A"/>
                </a:solidFill>
              </a:defRPr>
            </a:pPr>
            <a:r>
              <a:t>• Emits structured A2UI JSON specs for dynamic tables &amp; charts</a:t>
            </a:r>
          </a:p>
        </p:txBody>
      </p:sp>
      <p:sp>
        <p:nvSpPr>
          <p:cNvPr id="11" name="Rounded Rectangle 10"/>
          <p:cNvSpPr/>
          <p:nvPr/>
        </p:nvSpPr>
        <p:spPr>
          <a:xfrm>
            <a:off x="6400800" y="4023360"/>
            <a:ext cx="4846320" cy="164592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206240"/>
            <a:ext cx="4480559" cy="457200"/>
          </a:xfrm>
          <a:prstGeom prst="rect">
            <a:avLst/>
          </a:prstGeom>
          <a:noFill/>
        </p:spPr>
        <p:txBody>
          <a:bodyPr wrap="square">
            <a:spAutoFit/>
          </a:bodyPr>
          <a:lstStyle/>
          <a:p>
            <a:pPr>
              <a:defRPr sz="1600" b="1">
                <a:solidFill>
                  <a:srgbClr val="0F172A"/>
                </a:solidFill>
              </a:defRPr>
            </a:pPr>
            <a:r>
              <a:t>Rejected: Raw Markdown Tables</a:t>
            </a:r>
          </a:p>
        </p:txBody>
      </p:sp>
      <p:sp>
        <p:nvSpPr>
          <p:cNvPr id="13" name="TextBox 12"/>
          <p:cNvSpPr txBox="1"/>
          <p:nvPr/>
        </p:nvSpPr>
        <p:spPr>
          <a:xfrm>
            <a:off x="6492240" y="4480560"/>
            <a:ext cx="4663440" cy="1097280"/>
          </a:xfrm>
          <a:prstGeom prst="rect">
            <a:avLst/>
          </a:prstGeom>
          <a:noFill/>
        </p:spPr>
        <p:txBody>
          <a:bodyPr wrap="square" lIns="0" tIns="0" rIns="0" bIns="0">
            <a:spAutoFit/>
          </a:bodyPr>
          <a:lstStyle/>
          <a:p>
            <a:pPr>
              <a:spcAft>
                <a:spcPts val="600"/>
              </a:spcAft>
              <a:defRPr sz="1100">
                <a:solidFill>
                  <a:srgbClr val="0F172A"/>
                </a:solidFill>
              </a:defRPr>
            </a:pPr>
            <a:r>
              <a:t>• Raw markdown tables pollute prompt context &amp; break UI layouts</a:t>
            </a:r>
          </a:p>
        </p:txBody>
      </p:sp>
      <p:sp>
        <p:nvSpPr>
          <p:cNvPr id="14" name="Rectangle 13"/>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Layer Deep Dive 2 — Agentic Core &amp; ADK Orchestration</a:t>
            </a:r>
          </a:p>
          <a:p>
            <a:pPr>
              <a:defRPr sz="1300">
                <a:solidFill>
                  <a:srgbClr val="1A73E8"/>
                </a:solidFill>
              </a:defRPr>
            </a:pPr>
            <a:r>
              <a:t>Google Agent Development Kit (ADK) Supervisor Pattern &amp; Intent Routing</a:t>
            </a:r>
          </a:p>
        </p:txBody>
      </p:sp>
      <p:sp>
        <p:nvSpPr>
          <p:cNvPr id="3" name="Rounded Rectangle 2"/>
          <p:cNvSpPr/>
          <p:nvPr/>
        </p:nvSpPr>
        <p:spPr>
          <a:xfrm>
            <a:off x="7315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ADK Orchestration Logic</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ADK RootOrchestrator: Built on ADK LlmAgent &amp; Runner</a:t>
            </a:r>
          </a:p>
          <a:p>
            <a:pPr>
              <a:spcAft>
                <a:spcPts val="600"/>
              </a:spcAft>
              <a:defRPr sz="1200">
                <a:solidFill>
                  <a:srgbClr val="0F172A"/>
                </a:solidFill>
              </a:defRPr>
            </a:pPr>
            <a:r>
              <a:t>• Supervisor Pattern: Evaluates intent &amp; routes requests</a:t>
            </a:r>
          </a:p>
          <a:p>
            <a:pPr>
              <a:spcAft>
                <a:spcPts val="600"/>
              </a:spcAft>
              <a:defRPr sz="1200">
                <a:solidFill>
                  <a:srgbClr val="0F172A"/>
                </a:solidFill>
              </a:defRPr>
            </a:pPr>
            <a:r>
              <a:t>• Search Sub-Agent: Offloads complex 10-K search tasks</a:t>
            </a:r>
          </a:p>
          <a:p>
            <a:pPr>
              <a:spcAft>
                <a:spcPts val="600"/>
              </a:spcAft>
              <a:defRPr sz="1200">
                <a:solidFill>
                  <a:srgbClr val="0F172A"/>
                </a:solidFill>
              </a:defRPr>
            </a:pPr>
            <a:r>
              <a:t>• Persistent Session Storage: Maintains multi-turn state</a:t>
            </a:r>
          </a:p>
        </p:txBody>
      </p:sp>
      <p:sp>
        <p:nvSpPr>
          <p:cNvPr id="6" name="Rounded Rectangle 5"/>
          <p:cNvSpPr/>
          <p:nvPr/>
        </p:nvSpPr>
        <p:spPr>
          <a:xfrm>
            <a:off x="62179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Technical Trade-Off Matrix</a:t>
            </a:r>
          </a:p>
        </p:txBody>
      </p:sp>
      <p:sp>
        <p:nvSpPr>
          <p:cNvPr id="8" name="Rounded Rectangle 7"/>
          <p:cNvSpPr/>
          <p:nvPr/>
        </p:nvSpPr>
        <p:spPr>
          <a:xfrm>
            <a:off x="6400800" y="2194560"/>
            <a:ext cx="4846320" cy="16459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377440"/>
            <a:ext cx="4480559" cy="457200"/>
          </a:xfrm>
          <a:prstGeom prst="rect">
            <a:avLst/>
          </a:prstGeom>
          <a:noFill/>
        </p:spPr>
        <p:txBody>
          <a:bodyPr wrap="square">
            <a:spAutoFit/>
          </a:bodyPr>
          <a:lstStyle/>
          <a:p>
            <a:pPr>
              <a:defRPr sz="1600" b="1">
                <a:solidFill>
                  <a:srgbClr val="0F172A"/>
                </a:solidFill>
              </a:defRPr>
            </a:pPr>
            <a:r>
              <a:t>Selected: ADK Supervisor Pattern</a:t>
            </a:r>
          </a:p>
        </p:txBody>
      </p:sp>
      <p:sp>
        <p:nvSpPr>
          <p:cNvPr id="10" name="TextBox 9"/>
          <p:cNvSpPr txBox="1"/>
          <p:nvPr/>
        </p:nvSpPr>
        <p:spPr>
          <a:xfrm>
            <a:off x="6492240" y="2651760"/>
            <a:ext cx="4663440" cy="1097280"/>
          </a:xfrm>
          <a:prstGeom prst="rect">
            <a:avLst/>
          </a:prstGeom>
          <a:noFill/>
        </p:spPr>
        <p:txBody>
          <a:bodyPr wrap="square" lIns="0" tIns="0" rIns="0" bIns="0">
            <a:spAutoFit/>
          </a:bodyPr>
          <a:lstStyle/>
          <a:p>
            <a:pPr>
              <a:spcAft>
                <a:spcPts val="600"/>
              </a:spcAft>
              <a:defRPr sz="1100">
                <a:solidFill>
                  <a:srgbClr val="0F172A"/>
                </a:solidFill>
              </a:defRPr>
            </a:pPr>
            <a:r>
              <a:t>• Modular tool routing, clear boundaries, &amp; context isolation</a:t>
            </a:r>
          </a:p>
        </p:txBody>
      </p:sp>
      <p:sp>
        <p:nvSpPr>
          <p:cNvPr id="11" name="Rounded Rectangle 10"/>
          <p:cNvSpPr/>
          <p:nvPr/>
        </p:nvSpPr>
        <p:spPr>
          <a:xfrm>
            <a:off x="6400800" y="4023360"/>
            <a:ext cx="4846320" cy="164592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206240"/>
            <a:ext cx="4480559" cy="457200"/>
          </a:xfrm>
          <a:prstGeom prst="rect">
            <a:avLst/>
          </a:prstGeom>
          <a:noFill/>
        </p:spPr>
        <p:txBody>
          <a:bodyPr wrap="square">
            <a:spAutoFit/>
          </a:bodyPr>
          <a:lstStyle/>
          <a:p>
            <a:pPr>
              <a:defRPr sz="1600" b="1">
                <a:solidFill>
                  <a:srgbClr val="0F172A"/>
                </a:solidFill>
              </a:defRPr>
            </a:pPr>
            <a:r>
              <a:t>Rejected: Monolithic Script</a:t>
            </a:r>
          </a:p>
        </p:txBody>
      </p:sp>
      <p:sp>
        <p:nvSpPr>
          <p:cNvPr id="13" name="TextBox 12"/>
          <p:cNvSpPr txBox="1"/>
          <p:nvPr/>
        </p:nvSpPr>
        <p:spPr>
          <a:xfrm>
            <a:off x="6492240" y="4480560"/>
            <a:ext cx="4663440" cy="1097280"/>
          </a:xfrm>
          <a:prstGeom prst="rect">
            <a:avLst/>
          </a:prstGeom>
          <a:noFill/>
        </p:spPr>
        <p:txBody>
          <a:bodyPr wrap="square" lIns="0" tIns="0" rIns="0" bIns="0">
            <a:spAutoFit/>
          </a:bodyPr>
          <a:lstStyle/>
          <a:p>
            <a:pPr>
              <a:spcAft>
                <a:spcPts val="600"/>
              </a:spcAft>
              <a:defRPr sz="1100">
                <a:solidFill>
                  <a:srgbClr val="0F172A"/>
                </a:solidFill>
              </a:defRPr>
            </a:pPr>
            <a:r>
              <a:t>• Monolithic prompts suffer from tool confusion &amp; context drift</a:t>
            </a:r>
          </a:p>
        </p:txBody>
      </p:sp>
      <p:sp>
        <p:nvSpPr>
          <p:cNvPr id="14" name="Rectangle 13"/>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Layer Deep Dive 3 — Hybrid Search RAG Layer</a:t>
            </a:r>
          </a:p>
          <a:p>
            <a:pPr>
              <a:defRPr sz="1300">
                <a:solidFill>
                  <a:srgbClr val="1A73E8"/>
                </a:solidFill>
              </a:defRPr>
            </a:pPr>
            <a:r>
              <a:t>Dual-Path Retrieval: BigQuery SQL Metrics &amp; Vertex AI Search DataStore Grounding</a:t>
            </a:r>
          </a:p>
        </p:txBody>
      </p:sp>
      <p:sp>
        <p:nvSpPr>
          <p:cNvPr id="3" name="Rounded Rectangle 2"/>
          <p:cNvSpPr/>
          <p:nvPr/>
        </p:nvSpPr>
        <p:spPr>
          <a:xfrm>
            <a:off x="7315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Dual-Path Grounding Architecture</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Path 1 (Structured): BigQuery SQL queries golden metric tables</a:t>
            </a:r>
          </a:p>
          <a:p>
            <a:pPr>
              <a:spcAft>
                <a:spcPts val="600"/>
              </a:spcAft>
              <a:defRPr sz="1200">
                <a:solidFill>
                  <a:srgbClr val="0F172A"/>
                </a:solidFill>
              </a:defRPr>
            </a:pPr>
            <a:r>
              <a:t>• Path 2 (Unstructured): Vertex AI Search DataStore Grounding</a:t>
            </a:r>
          </a:p>
          <a:p>
            <a:pPr>
              <a:spcAft>
                <a:spcPts val="600"/>
              </a:spcAft>
              <a:defRPr sz="1200">
                <a:solidFill>
                  <a:srgbClr val="0F172A"/>
                </a:solidFill>
              </a:defRPr>
            </a:pPr>
            <a:r>
              <a:t>• Query Metadata Anchoring: Formulates queries by Ticker &amp; Fiscal Year</a:t>
            </a:r>
          </a:p>
          <a:p>
            <a:pPr>
              <a:spcAft>
                <a:spcPts val="600"/>
              </a:spcAft>
              <a:defRPr sz="1200">
                <a:solidFill>
                  <a:srgbClr val="0F172A"/>
                </a:solidFill>
              </a:defRPr>
            </a:pPr>
            <a:r>
              <a:t>• Parallel Highlighting: Gemini Flash annotates exact passages with &lt;mark&gt;</a:t>
            </a:r>
          </a:p>
        </p:txBody>
      </p:sp>
      <p:sp>
        <p:nvSpPr>
          <p:cNvPr id="6" name="Rounded Rectangle 5"/>
          <p:cNvSpPr/>
          <p:nvPr/>
        </p:nvSpPr>
        <p:spPr>
          <a:xfrm>
            <a:off x="62179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Technical Trade-Off Matrix</a:t>
            </a:r>
          </a:p>
        </p:txBody>
      </p:sp>
      <p:sp>
        <p:nvSpPr>
          <p:cNvPr id="8" name="Rounded Rectangle 7"/>
          <p:cNvSpPr/>
          <p:nvPr/>
        </p:nvSpPr>
        <p:spPr>
          <a:xfrm>
            <a:off x="6400800" y="2194560"/>
            <a:ext cx="4846320" cy="16459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377440"/>
            <a:ext cx="4480559" cy="457200"/>
          </a:xfrm>
          <a:prstGeom prst="rect">
            <a:avLst/>
          </a:prstGeom>
          <a:noFill/>
        </p:spPr>
        <p:txBody>
          <a:bodyPr wrap="square">
            <a:spAutoFit/>
          </a:bodyPr>
          <a:lstStyle/>
          <a:p>
            <a:pPr>
              <a:defRPr sz="1600" b="1">
                <a:solidFill>
                  <a:srgbClr val="0F172A"/>
                </a:solidFill>
              </a:defRPr>
            </a:pPr>
            <a:r>
              <a:t>Selected: Hybrid (BigQuery SQL + Vertex Search)</a:t>
            </a:r>
          </a:p>
        </p:txBody>
      </p:sp>
      <p:sp>
        <p:nvSpPr>
          <p:cNvPr id="10" name="TextBox 9"/>
          <p:cNvSpPr txBox="1"/>
          <p:nvPr/>
        </p:nvSpPr>
        <p:spPr>
          <a:xfrm>
            <a:off x="6492240" y="2651760"/>
            <a:ext cx="4663440" cy="1097280"/>
          </a:xfrm>
          <a:prstGeom prst="rect">
            <a:avLst/>
          </a:prstGeom>
          <a:noFill/>
        </p:spPr>
        <p:txBody>
          <a:bodyPr wrap="square" lIns="0" tIns="0" rIns="0" bIns="0">
            <a:spAutoFit/>
          </a:bodyPr>
          <a:lstStyle/>
          <a:p>
            <a:pPr>
              <a:spcAft>
                <a:spcPts val="600"/>
              </a:spcAft>
              <a:defRPr sz="1100">
                <a:solidFill>
                  <a:srgbClr val="0F172A"/>
                </a:solidFill>
              </a:defRPr>
            </a:pPr>
            <a:r>
              <a:t>• High-precision quantitative SQL metrics + rich qualitative text passages</a:t>
            </a:r>
          </a:p>
        </p:txBody>
      </p:sp>
      <p:sp>
        <p:nvSpPr>
          <p:cNvPr id="11" name="Rounded Rectangle 10"/>
          <p:cNvSpPr/>
          <p:nvPr/>
        </p:nvSpPr>
        <p:spPr>
          <a:xfrm>
            <a:off x="6400800" y="4023360"/>
            <a:ext cx="4846320" cy="164592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206240"/>
            <a:ext cx="4480559" cy="457200"/>
          </a:xfrm>
          <a:prstGeom prst="rect">
            <a:avLst/>
          </a:prstGeom>
          <a:noFill/>
        </p:spPr>
        <p:txBody>
          <a:bodyPr wrap="square">
            <a:spAutoFit/>
          </a:bodyPr>
          <a:lstStyle/>
          <a:p>
            <a:pPr>
              <a:defRPr sz="1600" b="1">
                <a:solidFill>
                  <a:srgbClr val="0F172A"/>
                </a:solidFill>
              </a:defRPr>
            </a:pPr>
            <a:r>
              <a:t>Rejected: Pure Vector Retrieval</a:t>
            </a:r>
          </a:p>
        </p:txBody>
      </p:sp>
      <p:sp>
        <p:nvSpPr>
          <p:cNvPr id="13" name="TextBox 12"/>
          <p:cNvSpPr txBox="1"/>
          <p:nvPr/>
        </p:nvSpPr>
        <p:spPr>
          <a:xfrm>
            <a:off x="6492240" y="4480560"/>
            <a:ext cx="4663440" cy="1097280"/>
          </a:xfrm>
          <a:prstGeom prst="rect">
            <a:avLst/>
          </a:prstGeom>
          <a:noFill/>
        </p:spPr>
        <p:txBody>
          <a:bodyPr wrap="square" lIns="0" tIns="0" rIns="0" bIns="0">
            <a:spAutoFit/>
          </a:bodyPr>
          <a:lstStyle/>
          <a:p>
            <a:pPr>
              <a:spcAft>
                <a:spcPts val="600"/>
              </a:spcAft>
              <a:defRPr sz="1100">
                <a:solidFill>
                  <a:srgbClr val="0F172A"/>
                </a:solidFill>
              </a:defRPr>
            </a:pPr>
            <a:r>
              <a:t>• Pure vector search struggles with exact tabular metric lookups</a:t>
            </a:r>
          </a:p>
        </p:txBody>
      </p:sp>
      <p:sp>
        <p:nvSpPr>
          <p:cNvPr id="14" name="Rectangle 13"/>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Layer Deep Dive 4 — Decoupled Deterministic Math Engine</a:t>
            </a:r>
          </a:p>
          <a:p>
            <a:pPr>
              <a:defRPr sz="1300">
                <a:solidFill>
                  <a:srgbClr val="1A73E8"/>
                </a:solidFill>
              </a:defRPr>
            </a:pPr>
            <a:r>
              <a:t>Sandboxed Python Code Execution for Zero-LLM Numerical Calculations</a:t>
            </a:r>
          </a:p>
        </p:txBody>
      </p:sp>
      <p:sp>
        <p:nvSpPr>
          <p:cNvPr id="3" name="Rounded Rectangle 2"/>
          <p:cNvSpPr/>
          <p:nvPr/>
        </p:nvSpPr>
        <p:spPr>
          <a:xfrm>
            <a:off x="7315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Zero-LLM Math Approach &amp; Safeguards</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Sandboxed Execution: Python calculation_engine.py solver</a:t>
            </a:r>
          </a:p>
          <a:p>
            <a:pPr>
              <a:spcAft>
                <a:spcPts val="600"/>
              </a:spcAft>
              <a:defRPr sz="1200">
                <a:solidFill>
                  <a:srgbClr val="0F172A"/>
                </a:solidFill>
              </a:defRPr>
            </a:pPr>
            <a:r>
              <a:t>• Zero LLM Math: LLM handles reasoning; Python handles math</a:t>
            </a:r>
          </a:p>
          <a:p>
            <a:pPr>
              <a:spcAft>
                <a:spcPts val="600"/>
              </a:spcAft>
              <a:defRPr sz="1200">
                <a:solidFill>
                  <a:srgbClr val="0F172A"/>
                </a:solidFill>
              </a:defRPr>
            </a:pPr>
            <a:r>
              <a:t>• Division-by-Zero Traps: Error handling for sparse datasets</a:t>
            </a:r>
          </a:p>
          <a:p>
            <a:pPr>
              <a:spcAft>
                <a:spcPts val="600"/>
              </a:spcAft>
              <a:defRPr sz="1200">
                <a:solidFill>
                  <a:srgbClr val="0F172A"/>
                </a:solidFill>
              </a:defRPr>
            </a:pPr>
            <a:r>
              <a:t>• Negative Baselines: Adjusted normalization for YoY variance</a:t>
            </a:r>
          </a:p>
        </p:txBody>
      </p:sp>
      <p:sp>
        <p:nvSpPr>
          <p:cNvPr id="6" name="Rounded Rectangle 5"/>
          <p:cNvSpPr/>
          <p:nvPr/>
        </p:nvSpPr>
        <p:spPr>
          <a:xfrm>
            <a:off x="62179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Technical Trade-Off Matrix</a:t>
            </a:r>
          </a:p>
        </p:txBody>
      </p:sp>
      <p:sp>
        <p:nvSpPr>
          <p:cNvPr id="8" name="Rounded Rectangle 7"/>
          <p:cNvSpPr/>
          <p:nvPr/>
        </p:nvSpPr>
        <p:spPr>
          <a:xfrm>
            <a:off x="6400800" y="2194560"/>
            <a:ext cx="4846320" cy="16459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377440"/>
            <a:ext cx="4480559" cy="457200"/>
          </a:xfrm>
          <a:prstGeom prst="rect">
            <a:avLst/>
          </a:prstGeom>
          <a:noFill/>
        </p:spPr>
        <p:txBody>
          <a:bodyPr wrap="square">
            <a:spAutoFit/>
          </a:bodyPr>
          <a:lstStyle/>
          <a:p>
            <a:pPr>
              <a:defRPr sz="1600" b="1">
                <a:solidFill>
                  <a:srgbClr val="0F172A"/>
                </a:solidFill>
              </a:defRPr>
            </a:pPr>
            <a:r>
              <a:t>Selected: Sandboxed Python Engine</a:t>
            </a:r>
          </a:p>
        </p:txBody>
      </p:sp>
      <p:sp>
        <p:nvSpPr>
          <p:cNvPr id="10" name="TextBox 9"/>
          <p:cNvSpPr txBox="1"/>
          <p:nvPr/>
        </p:nvSpPr>
        <p:spPr>
          <a:xfrm>
            <a:off x="6492240" y="2651760"/>
            <a:ext cx="4663440" cy="1097280"/>
          </a:xfrm>
          <a:prstGeom prst="rect">
            <a:avLst/>
          </a:prstGeom>
          <a:noFill/>
        </p:spPr>
        <p:txBody>
          <a:bodyPr wrap="square" lIns="0" tIns="0" rIns="0" bIns="0">
            <a:spAutoFit/>
          </a:bodyPr>
          <a:lstStyle/>
          <a:p>
            <a:pPr>
              <a:spcAft>
                <a:spcPts val="600"/>
              </a:spcAft>
              <a:defRPr sz="1100">
                <a:solidFill>
                  <a:srgbClr val="0F172A"/>
                </a:solidFill>
              </a:defRPr>
            </a:pPr>
            <a:r>
              <a:t>• 100% computational accuracy &amp; zero hallucinated digits</a:t>
            </a:r>
          </a:p>
        </p:txBody>
      </p:sp>
      <p:sp>
        <p:nvSpPr>
          <p:cNvPr id="11" name="Rounded Rectangle 10"/>
          <p:cNvSpPr/>
          <p:nvPr/>
        </p:nvSpPr>
        <p:spPr>
          <a:xfrm>
            <a:off x="6400800" y="4023360"/>
            <a:ext cx="4846320" cy="164592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206240"/>
            <a:ext cx="4480559" cy="457200"/>
          </a:xfrm>
          <a:prstGeom prst="rect">
            <a:avLst/>
          </a:prstGeom>
          <a:noFill/>
        </p:spPr>
        <p:txBody>
          <a:bodyPr wrap="square">
            <a:spAutoFit/>
          </a:bodyPr>
          <a:lstStyle/>
          <a:p>
            <a:pPr>
              <a:defRPr sz="1600" b="1">
                <a:solidFill>
                  <a:srgbClr val="0F172A"/>
                </a:solidFill>
              </a:defRPr>
            </a:pPr>
            <a:r>
              <a:t>Rejected: LLM Arithmetic Reasoning</a:t>
            </a:r>
          </a:p>
        </p:txBody>
      </p:sp>
      <p:sp>
        <p:nvSpPr>
          <p:cNvPr id="13" name="TextBox 12"/>
          <p:cNvSpPr txBox="1"/>
          <p:nvPr/>
        </p:nvSpPr>
        <p:spPr>
          <a:xfrm>
            <a:off x="6492240" y="4480560"/>
            <a:ext cx="4663440" cy="1097280"/>
          </a:xfrm>
          <a:prstGeom prst="rect">
            <a:avLst/>
          </a:prstGeom>
          <a:noFill/>
        </p:spPr>
        <p:txBody>
          <a:bodyPr wrap="square" lIns="0" tIns="0" rIns="0" bIns="0">
            <a:spAutoFit/>
          </a:bodyPr>
          <a:lstStyle/>
          <a:p>
            <a:pPr>
              <a:spcAft>
                <a:spcPts val="600"/>
              </a:spcAft>
              <a:defRPr sz="1100">
                <a:solidFill>
                  <a:srgbClr val="0F172A"/>
                </a:solidFill>
              </a:defRPr>
            </a:pPr>
            <a:r>
              <a:t>• Probabilistic LLM arithmetic introduces floating-point errors</a:t>
            </a:r>
          </a:p>
        </p:txBody>
      </p:sp>
      <p:sp>
        <p:nvSpPr>
          <p:cNvPr id="14" name="Rectangle 13"/>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Layer Deep Dive 5 — Security Perimeter &amp; Model Armor Integration</a:t>
            </a:r>
          </a:p>
          <a:p>
            <a:pPr>
              <a:defRPr sz="1300">
                <a:solidFill>
                  <a:srgbClr val="1A73E8"/>
                </a:solidFill>
              </a:defRPr>
            </a:pPr>
            <a:r>
              <a:t>Multi-Layered Defense-in-Depth for Enterprise Compliance</a:t>
            </a:r>
          </a:p>
        </p:txBody>
      </p:sp>
      <p:sp>
        <p:nvSpPr>
          <p:cNvPr id="3" name="Rounded Rectangle 2"/>
          <p:cNvSpPr/>
          <p:nvPr/>
        </p:nvSpPr>
        <p:spPr>
          <a:xfrm>
            <a:off x="7315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Security Infrastructure</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VPC Service Controls: Isolated security perimeter</a:t>
            </a:r>
          </a:p>
          <a:p>
            <a:pPr>
              <a:spcAft>
                <a:spcPts val="600"/>
              </a:spcAft>
              <a:defRPr sz="1200">
                <a:solidFill>
                  <a:srgbClr val="0F172A"/>
                </a:solidFill>
              </a:defRPr>
            </a:pPr>
            <a:r>
              <a:t>• Model Armor Callbacks: Ingress &amp; egress prompt inspection</a:t>
            </a:r>
          </a:p>
          <a:p>
            <a:pPr>
              <a:spcAft>
                <a:spcPts val="600"/>
              </a:spcAft>
              <a:defRPr sz="1200">
                <a:solidFill>
                  <a:srgbClr val="0F172A"/>
                </a:solidFill>
              </a:defRPr>
            </a:pPr>
            <a:r>
              <a:t>• DLP PII Scrubber: Real-time sensitive data redaction</a:t>
            </a:r>
          </a:p>
          <a:p>
            <a:pPr>
              <a:spcAft>
                <a:spcPts val="600"/>
              </a:spcAft>
              <a:defRPr sz="1200">
                <a:solidFill>
                  <a:srgbClr val="0F172A"/>
                </a:solidFill>
              </a:defRPr>
            </a:pPr>
            <a:r>
              <a:t>• Least Privilege IAM: Sec-analyst-sa service account controls</a:t>
            </a:r>
          </a:p>
        </p:txBody>
      </p:sp>
      <p:sp>
        <p:nvSpPr>
          <p:cNvPr id="6" name="Rounded Rectangle 5"/>
          <p:cNvSpPr/>
          <p:nvPr/>
        </p:nvSpPr>
        <p:spPr>
          <a:xfrm>
            <a:off x="62179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Technical Trade-Off Matrix</a:t>
            </a:r>
          </a:p>
        </p:txBody>
      </p:sp>
      <p:sp>
        <p:nvSpPr>
          <p:cNvPr id="8" name="Rounded Rectangle 7"/>
          <p:cNvSpPr/>
          <p:nvPr/>
        </p:nvSpPr>
        <p:spPr>
          <a:xfrm>
            <a:off x="6400800" y="2194560"/>
            <a:ext cx="4846320" cy="16459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377440"/>
            <a:ext cx="4480559" cy="457200"/>
          </a:xfrm>
          <a:prstGeom prst="rect">
            <a:avLst/>
          </a:prstGeom>
          <a:noFill/>
        </p:spPr>
        <p:txBody>
          <a:bodyPr wrap="square">
            <a:spAutoFit/>
          </a:bodyPr>
          <a:lstStyle/>
          <a:p>
            <a:pPr>
              <a:defRPr sz="1600" b="1">
                <a:solidFill>
                  <a:srgbClr val="0F172A"/>
                </a:solidFill>
              </a:defRPr>
            </a:pPr>
            <a:r>
              <a:t>Selected: VPC-SC + Model Armor + HITL Gate</a:t>
            </a:r>
          </a:p>
        </p:txBody>
      </p:sp>
      <p:sp>
        <p:nvSpPr>
          <p:cNvPr id="10" name="TextBox 9"/>
          <p:cNvSpPr txBox="1"/>
          <p:nvPr/>
        </p:nvSpPr>
        <p:spPr>
          <a:xfrm>
            <a:off x="6492240" y="2651760"/>
            <a:ext cx="4663440" cy="1097280"/>
          </a:xfrm>
          <a:prstGeom prst="rect">
            <a:avLst/>
          </a:prstGeom>
          <a:noFill/>
        </p:spPr>
        <p:txBody>
          <a:bodyPr wrap="square" lIns="0" tIns="0" rIns="0" bIns="0">
            <a:spAutoFit/>
          </a:bodyPr>
          <a:lstStyle/>
          <a:p>
            <a:pPr>
              <a:spcAft>
                <a:spcPts val="600"/>
              </a:spcAft>
              <a:defRPr sz="1100">
                <a:solidFill>
                  <a:srgbClr val="0F172A"/>
                </a:solidFill>
              </a:defRPr>
            </a:pPr>
            <a:r>
              <a:t>• Defense-in-depth, jailbreak blocking, &amp; human export approval</a:t>
            </a:r>
          </a:p>
        </p:txBody>
      </p:sp>
      <p:sp>
        <p:nvSpPr>
          <p:cNvPr id="11" name="Rounded Rectangle 10"/>
          <p:cNvSpPr/>
          <p:nvPr/>
        </p:nvSpPr>
        <p:spPr>
          <a:xfrm>
            <a:off x="6400800" y="4023360"/>
            <a:ext cx="4846320" cy="164592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206240"/>
            <a:ext cx="4480559" cy="457200"/>
          </a:xfrm>
          <a:prstGeom prst="rect">
            <a:avLst/>
          </a:prstGeom>
          <a:noFill/>
        </p:spPr>
        <p:txBody>
          <a:bodyPr wrap="square">
            <a:spAutoFit/>
          </a:bodyPr>
          <a:lstStyle/>
          <a:p>
            <a:pPr>
              <a:defRPr sz="1600" b="1">
                <a:solidFill>
                  <a:srgbClr val="0F172A"/>
                </a:solidFill>
              </a:defRPr>
            </a:pPr>
            <a:r>
              <a:t>Rejected: Direct Public API Access</a:t>
            </a:r>
          </a:p>
        </p:txBody>
      </p:sp>
      <p:sp>
        <p:nvSpPr>
          <p:cNvPr id="13" name="TextBox 12"/>
          <p:cNvSpPr txBox="1"/>
          <p:nvPr/>
        </p:nvSpPr>
        <p:spPr>
          <a:xfrm>
            <a:off x="6492240" y="4480560"/>
            <a:ext cx="4663440" cy="1097280"/>
          </a:xfrm>
          <a:prstGeom prst="rect">
            <a:avLst/>
          </a:prstGeom>
          <a:noFill/>
        </p:spPr>
        <p:txBody>
          <a:bodyPr wrap="square" lIns="0" tIns="0" rIns="0" bIns="0">
            <a:spAutoFit/>
          </a:bodyPr>
          <a:lstStyle/>
          <a:p>
            <a:pPr>
              <a:spcAft>
                <a:spcPts val="600"/>
              </a:spcAft>
              <a:defRPr sz="1100">
                <a:solidFill>
                  <a:srgbClr val="0F172A"/>
                </a:solidFill>
              </a:defRPr>
            </a:pPr>
            <a:r>
              <a:t>• Vulnerable to prompt injection &amp; unmonitored exfiltration</a:t>
            </a:r>
          </a:p>
        </p:txBody>
      </p:sp>
      <p:sp>
        <p:nvSpPr>
          <p:cNvPr id="14" name="Rectangle 13"/>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Evaluation Architecture — Dual-Track Auditing Framework</a:t>
            </a:r>
          </a:p>
          <a:p>
            <a:pPr>
              <a:defRPr sz="1300">
                <a:solidFill>
                  <a:srgbClr val="1A73E8"/>
                </a:solidFill>
              </a:defRPr>
            </a:pPr>
            <a:r>
              <a:t>Combining Deterministic Math Verification with LLM-as-a-Judge</a:t>
            </a:r>
          </a:p>
        </p:txBody>
      </p:sp>
      <p:sp>
        <p:nvSpPr>
          <p:cNvPr id="3" name="Rounded Rectangle 2"/>
          <p:cNvSpPr/>
          <p:nvPr/>
        </p:nvSpPr>
        <p:spPr>
          <a:xfrm>
            <a:off x="7315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Track 1: Math Assertions</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Deterministic Verification: Automated numerical check</a:t>
            </a:r>
          </a:p>
          <a:p>
            <a:pPr>
              <a:spcAft>
                <a:spcPts val="600"/>
              </a:spcAft>
              <a:defRPr sz="1200">
                <a:solidFill>
                  <a:srgbClr val="0F172A"/>
                </a:solidFill>
              </a:defRPr>
            </a:pPr>
            <a:r>
              <a:t>• Range &amp; Bound Constraints: Non-negative checks</a:t>
            </a:r>
          </a:p>
          <a:p>
            <a:pPr>
              <a:spcAft>
                <a:spcPts val="600"/>
              </a:spcAft>
              <a:defRPr sz="1200">
                <a:solidFill>
                  <a:srgbClr val="0F172A"/>
                </a:solidFill>
              </a:defRPr>
            </a:pPr>
            <a:r>
              <a:t>• Cross-Statement Consistency: Financial statement alignment</a:t>
            </a:r>
          </a:p>
          <a:p>
            <a:pPr>
              <a:spcAft>
                <a:spcPts val="600"/>
              </a:spcAft>
              <a:defRPr sz="1200">
                <a:solidFill>
                  <a:srgbClr val="0F172A"/>
                </a:solidFill>
              </a:defRPr>
            </a:pPr>
            <a:r>
              <a:t>• Pass Rate: 100% Pass Rate across test suites</a:t>
            </a:r>
          </a:p>
        </p:txBody>
      </p:sp>
      <p:sp>
        <p:nvSpPr>
          <p:cNvPr id="6" name="Rounded Rectangle 5"/>
          <p:cNvSpPr/>
          <p:nvPr/>
        </p:nvSpPr>
        <p:spPr>
          <a:xfrm>
            <a:off x="6217920" y="1645920"/>
            <a:ext cx="5212080" cy="4389120"/>
          </a:xfrm>
          <a:prstGeom prst="roundRect">
            <a:avLst/>
          </a:prstGeom>
          <a:solidFill>
            <a:srgbClr val="F8FAFC"/>
          </a:solidFill>
          <a:ln w="1905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Track 2: Gemini 2.5 Flash Judge</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Semantic Auditing: Evaluates narrative reasoning paths</a:t>
            </a:r>
          </a:p>
          <a:p>
            <a:pPr>
              <a:spcAft>
                <a:spcPts val="600"/>
              </a:spcAft>
              <a:defRPr sz="1200">
                <a:solidFill>
                  <a:srgbClr val="0F172A"/>
                </a:solidFill>
              </a:defRPr>
            </a:pPr>
            <a:r>
              <a:t>• Citation Exactness: Precision &amp; recall of cited passages</a:t>
            </a:r>
          </a:p>
          <a:p>
            <a:pPr>
              <a:spcAft>
                <a:spcPts val="600"/>
              </a:spcAft>
              <a:defRPr sz="1200">
                <a:solidFill>
                  <a:srgbClr val="0F172A"/>
                </a:solidFill>
              </a:defRPr>
            </a:pPr>
            <a:r>
              <a:t>• Trajectory Quality: Tool selection step evaluation</a:t>
            </a:r>
          </a:p>
          <a:p>
            <a:pPr>
              <a:spcAft>
                <a:spcPts val="600"/>
              </a:spcAft>
              <a:defRPr sz="1200">
                <a:solidFill>
                  <a:srgbClr val="0F172A"/>
                </a:solidFill>
              </a:defRPr>
            </a:pPr>
            <a:r>
              <a:t>• Explainable Verdicts: Structured JSON reasoning output</a:t>
            </a:r>
          </a:p>
        </p:txBody>
      </p:sp>
      <p:sp>
        <p:nvSpPr>
          <p:cNvPr id="9" name="Rectangle 8"/>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ADK Evaluation Harness &amp; Golden Dataset Benchmark</a:t>
            </a:r>
          </a:p>
          <a:p>
            <a:pPr>
              <a:defRPr sz="1300">
                <a:solidFill>
                  <a:srgbClr val="1A73E8"/>
                </a:solidFill>
              </a:defRPr>
            </a:pPr>
            <a:r>
              <a:t>Automated Pytest Suite Execution against Curated SEC Test Cases</a:t>
            </a:r>
          </a:p>
        </p:txBody>
      </p:sp>
      <p:sp>
        <p:nvSpPr>
          <p:cNvPr id="3" name="Rounded Rectangle 2"/>
          <p:cNvSpPr/>
          <p:nvPr/>
        </p:nvSpPr>
        <p:spPr>
          <a:xfrm>
            <a:off x="7315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Eval Harness Architecture (run_benchmark.py)</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Golden Dataset: eval/golden_dataset.json (100+ Q&amp;As)</a:t>
            </a:r>
          </a:p>
          <a:p>
            <a:pPr>
              <a:spcAft>
                <a:spcPts val="600"/>
              </a:spcAft>
              <a:defRPr sz="1200">
                <a:solidFill>
                  <a:srgbClr val="0F172A"/>
                </a:solidFill>
              </a:defRPr>
            </a:pPr>
            <a:r>
              <a:t>• Automated Runner: eval/run_benchmark.py trajectory execution</a:t>
            </a:r>
          </a:p>
          <a:p>
            <a:pPr>
              <a:spcAft>
                <a:spcPts val="600"/>
              </a:spcAft>
              <a:defRPr sz="1200">
                <a:solidFill>
                  <a:srgbClr val="0F172A"/>
                </a:solidFill>
              </a:defRPr>
            </a:pPr>
            <a:r>
              <a:t>• Metrics Extracted: Math accuracy, recall, F1, &amp; latency</a:t>
            </a:r>
          </a:p>
          <a:p>
            <a:pPr>
              <a:spcAft>
                <a:spcPts val="600"/>
              </a:spcAft>
              <a:defRPr sz="1200">
                <a:solidFill>
                  <a:srgbClr val="0F172A"/>
                </a:solidFill>
              </a:defRPr>
            </a:pPr>
            <a:r>
              <a:t>• Regression Lock: Automated pytest blocks regression PRs</a:t>
            </a:r>
          </a:p>
        </p:txBody>
      </p:sp>
      <p:sp>
        <p:nvSpPr>
          <p:cNvPr id="6" name="Rounded Rectangle 5"/>
          <p:cNvSpPr/>
          <p:nvPr/>
        </p:nvSpPr>
        <p:spPr>
          <a:xfrm>
            <a:off x="6217920" y="1645920"/>
            <a:ext cx="5212080" cy="4389120"/>
          </a:xfrm>
          <a:prstGeom prst="roundRect">
            <a:avLst/>
          </a:prstGeom>
          <a:solidFill>
            <a:srgbClr val="F8FAFC"/>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Empirical Benchmark Results</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Math Accuracy %: 100.0% (22/22 test cases passed)</a:t>
            </a:r>
          </a:p>
          <a:p>
            <a:pPr>
              <a:spcAft>
                <a:spcPts val="600"/>
              </a:spcAft>
              <a:defRPr sz="1200">
                <a:solidFill>
                  <a:srgbClr val="0F172A"/>
                </a:solidFill>
              </a:defRPr>
            </a:pPr>
            <a:r>
              <a:t>• LLM Faithfulness: 1.0000 (Zero ungrounded claims)</a:t>
            </a:r>
          </a:p>
          <a:p>
            <a:pPr>
              <a:spcAft>
                <a:spcPts val="600"/>
              </a:spcAft>
              <a:defRPr sz="1200">
                <a:solidFill>
                  <a:srgbClr val="0F172A"/>
                </a:solidFill>
              </a:defRPr>
            </a:pPr>
            <a:r>
              <a:t>• Answer Relevance: 1.0000 (Complete intent alignment)</a:t>
            </a:r>
          </a:p>
          <a:p>
            <a:pPr>
              <a:spcAft>
                <a:spcPts val="600"/>
              </a:spcAft>
              <a:defRPr sz="1200">
                <a:solidFill>
                  <a:srgbClr val="0F172A"/>
                </a:solidFill>
              </a:defRPr>
            </a:pPr>
            <a:r>
              <a:t>• Execution Error Rate: 0.0% (Zero unhandled exceptions)</a:t>
            </a:r>
          </a:p>
          <a:p>
            <a:pPr>
              <a:spcAft>
                <a:spcPts val="600"/>
              </a:spcAft>
              <a:defRPr sz="1200">
                <a:solidFill>
                  <a:srgbClr val="0F172A"/>
                </a:solidFill>
              </a:defRPr>
            </a:pPr>
            <a:r>
              <a:t>• Average E2E Latency: 1.31s (1,306.92 ms average latency)</a:t>
            </a:r>
          </a:p>
        </p:txBody>
      </p:sp>
      <p:sp>
        <p:nvSpPr>
          <p:cNvPr id="9" name="Rectangle 8"/>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Production Telemetry &amp; Continuous Quality Control</a:t>
            </a:r>
          </a:p>
          <a:p>
            <a:pPr>
              <a:defRPr sz="1300">
                <a:solidFill>
                  <a:srgbClr val="1A73E8"/>
                </a:solidFill>
              </a:defRPr>
            </a:pPr>
            <a:r>
              <a:t>Non-Blocking BigQuery Event Sink &amp; System Refinement Flywheel</a:t>
            </a:r>
          </a:p>
        </p:txBody>
      </p:sp>
      <p:sp>
        <p:nvSpPr>
          <p:cNvPr id="3" name="Rounded Rectangle 2"/>
          <p:cNvSpPr/>
          <p:nvPr/>
        </p:nvSpPr>
        <p:spPr>
          <a:xfrm>
            <a:off x="7315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BigQuery Telemetry Sink (Implemented)</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Asynchronous Streaming: Zero user latency impact</a:t>
            </a:r>
          </a:p>
          <a:p>
            <a:pPr>
              <a:spcAft>
                <a:spcPts val="600"/>
              </a:spcAft>
              <a:defRPr sz="1200">
                <a:solidFill>
                  <a:srgbClr val="0F172A"/>
                </a:solidFill>
              </a:defRPr>
            </a:pPr>
            <a:r>
              <a:t>• Granular Event Logging: Tokens, latency, cost, &amp; tool counts</a:t>
            </a:r>
          </a:p>
          <a:p>
            <a:pPr>
              <a:spcAft>
                <a:spcPts val="600"/>
              </a:spcAft>
              <a:defRPr sz="1200">
                <a:solidFill>
                  <a:srgbClr val="0F172A"/>
                </a:solidFill>
              </a:defRPr>
            </a:pPr>
            <a:r>
              <a:t>• Live Table: Sec_edgar_telemetry.telemetry_events audit table</a:t>
            </a:r>
          </a:p>
          <a:p>
            <a:pPr>
              <a:spcAft>
                <a:spcPts val="600"/>
              </a:spcAft>
              <a:defRPr sz="1200">
                <a:solidFill>
                  <a:srgbClr val="0F172A"/>
                </a:solidFill>
              </a:defRPr>
            </a:pPr>
            <a:r>
              <a:t>• Cost Attribution: Real-time tracking of token spend &amp; CAG</a:t>
            </a:r>
          </a:p>
        </p:txBody>
      </p:sp>
      <p:sp>
        <p:nvSpPr>
          <p:cNvPr id="6" name="Rounded Rectangle 5"/>
          <p:cNvSpPr/>
          <p:nvPr/>
        </p:nvSpPr>
        <p:spPr>
          <a:xfrm>
            <a:off x="6217920" y="1645920"/>
            <a:ext cx="5212080" cy="4389120"/>
          </a:xfrm>
          <a:prstGeom prst="roundRect">
            <a:avLst/>
          </a:prstGeom>
          <a:solidFill>
            <a:srgbClr val="F8FAFC"/>
          </a:solidFill>
          <a:ln w="1905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Refinement Flywheel &amp; Continuous Sampling</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Incident Detection: Edge cases trigger rule codification</a:t>
            </a:r>
          </a:p>
          <a:p>
            <a:pPr>
              <a:spcAft>
                <a:spcPts val="600"/>
              </a:spcAft>
              <a:defRPr sz="1200">
                <a:solidFill>
                  <a:srgbClr val="0F172A"/>
                </a:solidFill>
              </a:defRPr>
            </a:pPr>
            <a:r>
              <a:t>• System Constitution Lock: Permanent rules in agent/constitution.py</a:t>
            </a:r>
          </a:p>
          <a:p>
            <a:pPr>
              <a:spcAft>
                <a:spcPts val="600"/>
              </a:spcAft>
              <a:defRPr sz="1200">
                <a:solidFill>
                  <a:srgbClr val="0F172A"/>
                </a:solidFill>
              </a:defRPr>
            </a:pPr>
            <a:r>
              <a:t>• Pytest Lock: New test assertions locked in run_benchmark.py</a:t>
            </a:r>
          </a:p>
          <a:p>
            <a:pPr>
              <a:spcAft>
                <a:spcPts val="600"/>
              </a:spcAft>
              <a:defRPr sz="1200">
                <a:solidFill>
                  <a:srgbClr val="0F172A"/>
                </a:solidFill>
              </a:defRPr>
            </a:pPr>
            <a:r>
              <a:t>• Roadmap (5% Sampling): 5% traffic sampling for drift auditing</a:t>
            </a:r>
          </a:p>
        </p:txBody>
      </p:sp>
      <p:sp>
        <p:nvSpPr>
          <p:cNvPr id="9" name="Rectangle 8"/>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Total Cost of Ownership (TCO) &amp; Bottom-Up Cost Breakdown</a:t>
            </a:r>
          </a:p>
          <a:p>
            <a:pPr>
              <a:defRPr sz="1300">
                <a:solidFill>
                  <a:srgbClr val="1A73E8"/>
                </a:solidFill>
              </a:defRPr>
            </a:pPr>
            <a:r>
              <a:t>Analyzing Operational Overhead &amp; First-Principles AI System Costs</a:t>
            </a:r>
          </a:p>
        </p:txBody>
      </p:sp>
      <p:sp>
        <p:nvSpPr>
          <p:cNvPr id="3" name="Rounded Rectangle 2"/>
          <p:cNvSpPr/>
          <p:nvPr/>
        </p:nvSpPr>
        <p:spPr>
          <a:xfrm>
            <a:off x="7315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Bottom-Up AI Cost Breakdown ($10k/yr)</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Gemini LLM Inference: $210/yr (1,200 reports with CAG 75% discount)</a:t>
            </a:r>
          </a:p>
          <a:p>
            <a:pPr>
              <a:spcAft>
                <a:spcPts val="600"/>
              </a:spcAft>
              <a:defRPr sz="1200">
                <a:solidFill>
                  <a:srgbClr val="0F172A"/>
                </a:solidFill>
              </a:defRPr>
            </a:pPr>
            <a:r>
              <a:t>• Vertex AI Search: $12/yr (6,000 DataStore queries)</a:t>
            </a:r>
          </a:p>
          <a:p>
            <a:pPr>
              <a:spcAft>
                <a:spcPts val="600"/>
              </a:spcAft>
              <a:defRPr sz="1200">
                <a:solidFill>
                  <a:srgbClr val="0F172A"/>
                </a:solidFill>
              </a:defRPr>
            </a:pPr>
            <a:r>
              <a:t>• Cloud Run Compute: $660/yr (1 min-instance 24/7 zero cold start)</a:t>
            </a:r>
          </a:p>
          <a:p>
            <a:pPr>
              <a:spcAft>
                <a:spcPts val="600"/>
              </a:spcAft>
              <a:defRPr sz="1200">
                <a:solidFill>
                  <a:srgbClr val="0F172A"/>
                </a:solidFill>
              </a:defRPr>
            </a:pPr>
            <a:r>
              <a:t>• Storage &amp; Telemetry: $240/yr (BigQuery streaming &amp; GCS)</a:t>
            </a:r>
          </a:p>
          <a:p>
            <a:pPr>
              <a:spcAft>
                <a:spcPts val="600"/>
              </a:spcAft>
              <a:defRPr sz="1200">
                <a:solidFill>
                  <a:srgbClr val="0F172A"/>
                </a:solidFill>
              </a:defRPr>
            </a:pPr>
            <a:r>
              <a:t>• Security &amp; Buffer: $8,878/yr (Model Armor, VPC-SC, IAM, Buffer)</a:t>
            </a:r>
          </a:p>
        </p:txBody>
      </p:sp>
      <p:sp>
        <p:nvSpPr>
          <p:cNvPr id="6" name="Rounded Rectangle 5"/>
          <p:cNvSpPr/>
          <p:nvPr/>
        </p:nvSpPr>
        <p:spPr>
          <a:xfrm>
            <a:off x="6217920" y="1645920"/>
            <a:ext cx="5212080" cy="4389120"/>
          </a:xfrm>
          <a:prstGeom prst="roundRect">
            <a:avLst/>
          </a:prstGeom>
          <a:solidFill>
            <a:srgbClr val="F8FAFC"/>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Annual Cost Comparison</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Manual Process Labor: $270,000 / year (3,000 hrs at $90/hr rate)</a:t>
            </a:r>
          </a:p>
          <a:p>
            <a:pPr>
              <a:spcAft>
                <a:spcPts val="600"/>
              </a:spcAft>
              <a:defRPr sz="1200">
                <a:solidFill>
                  <a:srgbClr val="0F172A"/>
                </a:solidFill>
              </a:defRPr>
            </a:pPr>
            <a:r>
              <a:t>• Grounded AI Agent Labor: $10,000 / year</a:t>
            </a:r>
          </a:p>
          <a:p>
            <a:pPr>
              <a:spcAft>
                <a:spcPts val="600"/>
              </a:spcAft>
              <a:defRPr sz="1200">
                <a:solidFill>
                  <a:srgbClr val="0F172A"/>
                </a:solidFill>
              </a:defRPr>
            </a:pPr>
            <a:r>
              <a:t>• Net Annual Cost Reduction: 96.3% reduction</a:t>
            </a:r>
          </a:p>
          <a:p>
            <a:pPr>
              <a:spcAft>
                <a:spcPts val="600"/>
              </a:spcAft>
              <a:defRPr sz="1200">
                <a:solidFill>
                  <a:srgbClr val="0F172A"/>
                </a:solidFill>
              </a:defRPr>
            </a:pPr>
            <a:r>
              <a:t>• Net Value Realized: $260,000 net annual savings</a:t>
            </a:r>
          </a:p>
        </p:txBody>
      </p:sp>
      <p:sp>
        <p:nvSpPr>
          <p:cNvPr id="9" name="Rectangle 8"/>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System Scalability &amp; Production Readiness</a:t>
            </a:r>
          </a:p>
          <a:p>
            <a:pPr>
              <a:defRPr sz="1300">
                <a:solidFill>
                  <a:srgbClr val="1A73E8"/>
                </a:solidFill>
              </a:defRPr>
            </a:pPr>
            <a:r>
              <a:t>High-Availability Deployment &amp; Enterprise Infrastructure</a:t>
            </a:r>
          </a:p>
        </p:txBody>
      </p:sp>
      <p:sp>
        <p:nvSpPr>
          <p:cNvPr id="3" name="Rounded Rectangle 2"/>
          <p:cNvSpPr/>
          <p:nvPr/>
        </p:nvSpPr>
        <p:spPr>
          <a:xfrm>
            <a:off x="7315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0F172A"/>
                </a:solidFill>
              </a:defRPr>
            </a:pPr>
            <a:r>
              <a:t>Compute Infrastructure</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Cloud Run Container Scaling: Serverless 0-10 autoscaling</a:t>
            </a:r>
          </a:p>
          <a:p>
            <a:pPr>
              <a:spcAft>
                <a:spcPts val="600"/>
              </a:spcAft>
              <a:defRPr sz="1200">
                <a:solidFill>
                  <a:srgbClr val="0F172A"/>
                </a:solidFill>
              </a:defRPr>
            </a:pPr>
            <a:r>
              <a:t>• Min-Instances=1: Zero cold-start latency on trading hours</a:t>
            </a:r>
          </a:p>
          <a:p>
            <a:pPr>
              <a:spcAft>
                <a:spcPts val="600"/>
              </a:spcAft>
              <a:defRPr sz="1200">
                <a:solidFill>
                  <a:srgbClr val="0F172A"/>
                </a:solidFill>
              </a:defRPr>
            </a:pPr>
            <a:r>
              <a:t>• 100% Terraform IaC: Automated main.tf provisioning</a:t>
            </a:r>
          </a:p>
          <a:p>
            <a:pPr>
              <a:spcAft>
                <a:spcPts val="600"/>
              </a:spcAft>
              <a:defRPr sz="1200">
                <a:solidFill>
                  <a:srgbClr val="0F172A"/>
                </a:solidFill>
              </a:defRPr>
            </a:pPr>
            <a:r>
              <a:t>• Zero Hardcoded Env: Mounted GCP Secret Manager keys</a:t>
            </a:r>
          </a:p>
        </p:txBody>
      </p:sp>
      <p:sp>
        <p:nvSpPr>
          <p:cNvPr id="6" name="Rounded Rectangle 5"/>
          <p:cNvSpPr/>
          <p:nvPr/>
        </p:nvSpPr>
        <p:spPr>
          <a:xfrm>
            <a:off x="6217920" y="164592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0F172A"/>
                </a:solidFill>
              </a:defRPr>
            </a:pPr>
            <a:r>
              <a:t>Data Layer &amp; Privacy Governance</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600"/>
              </a:spcAft>
              <a:defRPr sz="1200">
                <a:solidFill>
                  <a:srgbClr val="0F172A"/>
                </a:solidFill>
              </a:defRPr>
            </a:pPr>
            <a:r>
              <a:t>• BigQuery Partitioning: High-concurrency SQL tables</a:t>
            </a:r>
          </a:p>
          <a:p>
            <a:pPr>
              <a:spcAft>
                <a:spcPts val="600"/>
              </a:spcAft>
              <a:defRPr sz="1200">
                <a:solidFill>
                  <a:srgbClr val="0F172A"/>
                </a:solidFill>
              </a:defRPr>
            </a:pPr>
            <a:r>
              <a:t>• Data Privacy Isolation: Customer GCP project boundary</a:t>
            </a:r>
          </a:p>
          <a:p>
            <a:pPr>
              <a:spcAft>
                <a:spcPts val="600"/>
              </a:spcAft>
              <a:defRPr sz="1200">
                <a:solidFill>
                  <a:srgbClr val="0F172A"/>
                </a:solidFill>
              </a:defRPr>
            </a:pPr>
            <a:r>
              <a:t>• Zero Model Training: Prompts never used for model training</a:t>
            </a:r>
          </a:p>
          <a:p>
            <a:pPr>
              <a:spcAft>
                <a:spcPts val="600"/>
              </a:spcAft>
              <a:defRPr sz="1200">
                <a:solidFill>
                  <a:srgbClr val="0F172A"/>
                </a:solidFill>
              </a:defRPr>
            </a:pPr>
            <a:r>
              <a:t>• Enterprise RBAC: Granular IAM role bindings</a:t>
            </a:r>
          </a:p>
        </p:txBody>
      </p:sp>
      <p:sp>
        <p:nvSpPr>
          <p:cNvPr id="9" name="Rectangle 8"/>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Panel Defense &amp; Technical Trade-Off Matrix</a:t>
            </a:r>
          </a:p>
          <a:p>
            <a:pPr>
              <a:defRPr sz="1300">
                <a:solidFill>
                  <a:srgbClr val="1A73E8"/>
                </a:solidFill>
              </a:defRPr>
            </a:pPr>
            <a:r>
              <a:t>Strategic Justifications across Core Architectural Domains</a:t>
            </a:r>
          </a:p>
        </p:txBody>
      </p:sp>
      <p:graphicFrame>
        <p:nvGraphicFramePr>
          <p:cNvPr id="3" name="Table 2"/>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011680"/>
                <a:gridCol w="2926080"/>
                <a:gridCol w="2743200"/>
                <a:gridCol w="3047695"/>
              </a:tblGrid>
              <a:tr h="627017">
                <a:tc>
                  <a:txBody>
                    <a:bodyPr/>
                    <a:lstStyle/>
                    <a:p>
                      <a:pPr>
                        <a:defRPr sz="1100" b="1">
                          <a:solidFill>
                            <a:srgbClr val="FFFFFF"/>
                          </a:solidFill>
                        </a:defRPr>
                      </a:pPr>
                      <a:r>
                        <a:t>Domain</a:t>
                      </a:r>
                    </a:p>
                  </a:txBody>
                  <a:tcPr>
                    <a:solidFill>
                      <a:srgbClr val="1A73E8"/>
                    </a:solidFill>
                  </a:tcPr>
                </a:tc>
                <a:tc>
                  <a:txBody>
                    <a:bodyPr/>
                    <a:lstStyle/>
                    <a:p>
                      <a:pPr>
                        <a:defRPr sz="1100" b="1">
                          <a:solidFill>
                            <a:srgbClr val="FFFFFF"/>
                          </a:solidFill>
                        </a:defRPr>
                      </a:pPr>
                      <a:r>
                        <a:t>Selected Production Approach</a:t>
                      </a:r>
                    </a:p>
                  </a:txBody>
                  <a:tcPr>
                    <a:solidFill>
                      <a:srgbClr val="1A73E8"/>
                    </a:solidFill>
                  </a:tcPr>
                </a:tc>
                <a:tc>
                  <a:txBody>
                    <a:bodyPr/>
                    <a:lstStyle/>
                    <a:p>
                      <a:pPr>
                        <a:defRPr sz="1100" b="1">
                          <a:solidFill>
                            <a:srgbClr val="FFFFFF"/>
                          </a:solidFill>
                        </a:defRPr>
                      </a:pPr>
                      <a:r>
                        <a:t>Rejected Alternative</a:t>
                      </a:r>
                    </a:p>
                  </a:txBody>
                  <a:tcPr>
                    <a:solidFill>
                      <a:srgbClr val="1A73E8"/>
                    </a:solidFill>
                  </a:tcPr>
                </a:tc>
                <a:tc>
                  <a:txBody>
                    <a:bodyPr/>
                    <a:lstStyle/>
                    <a:p>
                      <a:pPr>
                        <a:defRPr sz="1100" b="1">
                          <a:solidFill>
                            <a:srgbClr val="FFFFFF"/>
                          </a:solidFill>
                        </a:defRPr>
                      </a:pPr>
                      <a:r>
                        <a:t>Technical Justification</a:t>
                      </a:r>
                    </a:p>
                  </a:txBody>
                  <a:tcPr>
                    <a:solidFill>
                      <a:srgbClr val="1A73E8"/>
                    </a:solidFill>
                  </a:tcPr>
                </a:tc>
              </a:tr>
              <a:tr h="627017">
                <a:tc>
                  <a:txBody>
                    <a:bodyPr/>
                    <a:lstStyle/>
                    <a:p>
                      <a:pPr>
                        <a:defRPr sz="1000">
                          <a:solidFill>
                            <a:srgbClr val="0F172A"/>
                          </a:solidFill>
                        </a:defRPr>
                      </a:pPr>
                      <a:r>
                        <a:t>Orchestration</a:t>
                      </a:r>
                    </a:p>
                  </a:txBody>
                  <a:tcPr>
                    <a:solidFill>
                      <a:srgbClr val="F8FAFC"/>
                    </a:solidFill>
                  </a:tcPr>
                </a:tc>
                <a:tc>
                  <a:txBody>
                    <a:bodyPr/>
                    <a:lstStyle/>
                    <a:p>
                      <a:pPr>
                        <a:defRPr sz="1000">
                          <a:solidFill>
                            <a:srgbClr val="0F172A"/>
                          </a:solidFill>
                        </a:defRPr>
                      </a:pPr>
                      <a:r>
                        <a:t>ADK Supervisor + Sub-Agents</a:t>
                      </a:r>
                    </a:p>
                  </a:txBody>
                  <a:tcPr>
                    <a:solidFill>
                      <a:srgbClr val="F8FAFC"/>
                    </a:solidFill>
                  </a:tcPr>
                </a:tc>
                <a:tc>
                  <a:txBody>
                    <a:bodyPr/>
                    <a:lstStyle/>
                    <a:p>
                      <a:pPr>
                        <a:defRPr sz="1000">
                          <a:solidFill>
                            <a:srgbClr val="64748B"/>
                          </a:solidFill>
                        </a:defRPr>
                      </a:pPr>
                      <a:r>
                        <a:t>Monolithic Script</a:t>
                      </a:r>
                    </a:p>
                  </a:txBody>
                  <a:tcPr>
                    <a:solidFill>
                      <a:srgbClr val="F8FAFC"/>
                    </a:solidFill>
                  </a:tcPr>
                </a:tc>
                <a:tc>
                  <a:txBody>
                    <a:bodyPr/>
                    <a:lstStyle/>
                    <a:p>
                      <a:pPr>
                        <a:defRPr sz="1000">
                          <a:solidFill>
                            <a:srgbClr val="1A73E8"/>
                          </a:solidFill>
                        </a:defRPr>
                      </a:pPr>
                      <a:r>
                        <a:t>Modular routing &amp; context isolation</a:t>
                      </a:r>
                    </a:p>
                  </a:txBody>
                  <a:tcPr>
                    <a:solidFill>
                      <a:srgbClr val="F8FAFC"/>
                    </a:solidFill>
                  </a:tcPr>
                </a:tc>
              </a:tr>
              <a:tr h="627017">
                <a:tc>
                  <a:txBody>
                    <a:bodyPr/>
                    <a:lstStyle/>
                    <a:p>
                      <a:pPr>
                        <a:defRPr sz="1000">
                          <a:solidFill>
                            <a:srgbClr val="0F172A"/>
                          </a:solidFill>
                        </a:defRPr>
                      </a:pPr>
                      <a:r>
                        <a:t>Math Logic</a:t>
                      </a:r>
                    </a:p>
                  </a:txBody>
                  <a:tcPr>
                    <a:solidFill>
                      <a:srgbClr val="FFFFFF"/>
                    </a:solidFill>
                  </a:tcPr>
                </a:tc>
                <a:tc>
                  <a:txBody>
                    <a:bodyPr/>
                    <a:lstStyle/>
                    <a:p>
                      <a:pPr>
                        <a:defRPr sz="1000">
                          <a:solidFill>
                            <a:srgbClr val="0F172A"/>
                          </a:solidFill>
                        </a:defRPr>
                      </a:pPr>
                      <a:r>
                        <a:t>Sandboxed Python Code Tool</a:t>
                      </a:r>
                    </a:p>
                  </a:txBody>
                  <a:tcPr>
                    <a:solidFill>
                      <a:srgbClr val="FFFFFF"/>
                    </a:solidFill>
                  </a:tcPr>
                </a:tc>
                <a:tc>
                  <a:txBody>
                    <a:bodyPr/>
                    <a:lstStyle/>
                    <a:p>
                      <a:pPr>
                        <a:defRPr sz="1000">
                          <a:solidFill>
                            <a:srgbClr val="64748B"/>
                          </a:solidFill>
                        </a:defRPr>
                      </a:pPr>
                      <a:r>
                        <a:t>LLM Arithmetic</a:t>
                      </a:r>
                    </a:p>
                  </a:txBody>
                  <a:tcPr>
                    <a:solidFill>
                      <a:srgbClr val="FFFFFF"/>
                    </a:solidFill>
                  </a:tcPr>
                </a:tc>
                <a:tc>
                  <a:txBody>
                    <a:bodyPr/>
                    <a:lstStyle/>
                    <a:p>
                      <a:pPr>
                        <a:defRPr sz="1000">
                          <a:solidFill>
                            <a:srgbClr val="1A73E8"/>
                          </a:solidFill>
                        </a:defRPr>
                      </a:pPr>
                      <a:r>
                        <a:t>100% math precision; zero hallucination</a:t>
                      </a:r>
                    </a:p>
                  </a:txBody>
                  <a:tcPr>
                    <a:solidFill>
                      <a:srgbClr val="FFFFFF"/>
                    </a:solidFill>
                  </a:tcPr>
                </a:tc>
              </a:tr>
              <a:tr h="627017">
                <a:tc>
                  <a:txBody>
                    <a:bodyPr/>
                    <a:lstStyle/>
                    <a:p>
                      <a:pPr>
                        <a:defRPr sz="1000">
                          <a:solidFill>
                            <a:srgbClr val="0F172A"/>
                          </a:solidFill>
                        </a:defRPr>
                      </a:pPr>
                      <a:r>
                        <a:t>Retrieval</a:t>
                      </a:r>
                    </a:p>
                  </a:txBody>
                  <a:tcPr>
                    <a:solidFill>
                      <a:srgbClr val="F8FAFC"/>
                    </a:solidFill>
                  </a:tcPr>
                </a:tc>
                <a:tc>
                  <a:txBody>
                    <a:bodyPr/>
                    <a:lstStyle/>
                    <a:p>
                      <a:pPr>
                        <a:defRPr sz="1000">
                          <a:solidFill>
                            <a:srgbClr val="0F172A"/>
                          </a:solidFill>
                        </a:defRPr>
                      </a:pPr>
                      <a:r>
                        <a:t>Hybrid (BigQuery SQL + Vector)</a:t>
                      </a:r>
                    </a:p>
                  </a:txBody>
                  <a:tcPr>
                    <a:solidFill>
                      <a:srgbClr val="F8FAFC"/>
                    </a:solidFill>
                  </a:tcPr>
                </a:tc>
                <a:tc>
                  <a:txBody>
                    <a:bodyPr/>
                    <a:lstStyle/>
                    <a:p>
                      <a:pPr>
                        <a:defRPr sz="1000">
                          <a:solidFill>
                            <a:srgbClr val="64748B"/>
                          </a:solidFill>
                        </a:defRPr>
                      </a:pPr>
                      <a:r>
                        <a:t>Pure Vector Search</a:t>
                      </a:r>
                    </a:p>
                  </a:txBody>
                  <a:tcPr>
                    <a:solidFill>
                      <a:srgbClr val="F8FAFC"/>
                    </a:solidFill>
                  </a:tcPr>
                </a:tc>
                <a:tc>
                  <a:txBody>
                    <a:bodyPr/>
                    <a:lstStyle/>
                    <a:p>
                      <a:pPr>
                        <a:defRPr sz="1000">
                          <a:solidFill>
                            <a:srgbClr val="1A73E8"/>
                          </a:solidFill>
                        </a:defRPr>
                      </a:pPr>
                      <a:r>
                        <a:t>Preserves structured table metric fidelity</a:t>
                      </a:r>
                    </a:p>
                  </a:txBody>
                  <a:tcPr>
                    <a:solidFill>
                      <a:srgbClr val="F8FAFC"/>
                    </a:solidFill>
                  </a:tcPr>
                </a:tc>
              </a:tr>
              <a:tr h="627017">
                <a:tc>
                  <a:txBody>
                    <a:bodyPr/>
                    <a:lstStyle/>
                    <a:p>
                      <a:pPr>
                        <a:defRPr sz="1000">
                          <a:solidFill>
                            <a:srgbClr val="0F172A"/>
                          </a:solidFill>
                        </a:defRPr>
                      </a:pPr>
                      <a:r>
                        <a:t>Security</a:t>
                      </a:r>
                    </a:p>
                  </a:txBody>
                  <a:tcPr>
                    <a:solidFill>
                      <a:srgbClr val="FFFFFF"/>
                    </a:solidFill>
                  </a:tcPr>
                </a:tc>
                <a:tc>
                  <a:txBody>
                    <a:bodyPr/>
                    <a:lstStyle/>
                    <a:p>
                      <a:pPr>
                        <a:defRPr sz="1000">
                          <a:solidFill>
                            <a:srgbClr val="0F172A"/>
                          </a:solidFill>
                        </a:defRPr>
                      </a:pPr>
                      <a:r>
                        <a:t>Model Armor + VPC-SC + HITL</a:t>
                      </a:r>
                    </a:p>
                  </a:txBody>
                  <a:tcPr>
                    <a:solidFill>
                      <a:srgbClr val="FFFFFF"/>
                    </a:solidFill>
                  </a:tcPr>
                </a:tc>
                <a:tc>
                  <a:txBody>
                    <a:bodyPr/>
                    <a:lstStyle/>
                    <a:p>
                      <a:pPr>
                        <a:defRPr sz="1000">
                          <a:solidFill>
                            <a:srgbClr val="64748B"/>
                          </a:solidFill>
                        </a:defRPr>
                      </a:pPr>
                      <a:r>
                        <a:t>Standard Public API</a:t>
                      </a:r>
                    </a:p>
                  </a:txBody>
                  <a:tcPr>
                    <a:solidFill>
                      <a:srgbClr val="FFFFFF"/>
                    </a:solidFill>
                  </a:tcPr>
                </a:tc>
                <a:tc>
                  <a:txBody>
                    <a:bodyPr/>
                    <a:lstStyle/>
                    <a:p>
                      <a:pPr>
                        <a:defRPr sz="1000">
                          <a:solidFill>
                            <a:srgbClr val="1A73E8"/>
                          </a:solidFill>
                        </a:defRPr>
                      </a:pPr>
                      <a:r>
                        <a:t>Defense-in-depth against data exfiltration</a:t>
                      </a:r>
                    </a:p>
                  </a:txBody>
                  <a:tcPr>
                    <a:solidFill>
                      <a:srgbClr val="FFFFFF"/>
                    </a:solidFill>
                  </a:tcPr>
                </a:tc>
              </a:tr>
              <a:tr h="627017">
                <a:tc>
                  <a:txBody>
                    <a:bodyPr/>
                    <a:lstStyle/>
                    <a:p>
                      <a:pPr>
                        <a:defRPr sz="1000">
                          <a:solidFill>
                            <a:srgbClr val="0F172A"/>
                          </a:solidFill>
                        </a:defRPr>
                      </a:pPr>
                      <a:r>
                        <a:t>Performance</a:t>
                      </a:r>
                    </a:p>
                  </a:txBody>
                  <a:tcPr>
                    <a:solidFill>
                      <a:srgbClr val="F8FAFC"/>
                    </a:solidFill>
                  </a:tcPr>
                </a:tc>
                <a:tc>
                  <a:txBody>
                    <a:bodyPr/>
                    <a:lstStyle/>
                    <a:p>
                      <a:pPr>
                        <a:defRPr sz="1000">
                          <a:solidFill>
                            <a:srgbClr val="0F172A"/>
                          </a:solidFill>
                        </a:defRPr>
                      </a:pPr>
                      <a:r>
                        <a:t>Context Caching (CAG)</a:t>
                      </a:r>
                    </a:p>
                  </a:txBody>
                  <a:tcPr>
                    <a:solidFill>
                      <a:srgbClr val="F8FAFC"/>
                    </a:solidFill>
                  </a:tcPr>
                </a:tc>
                <a:tc>
                  <a:txBody>
                    <a:bodyPr/>
                    <a:lstStyle/>
                    <a:p>
                      <a:pPr>
                        <a:defRPr sz="1000">
                          <a:solidFill>
                            <a:srgbClr val="64748B"/>
                          </a:solidFill>
                        </a:defRPr>
                      </a:pPr>
                      <a:r>
                        <a:t>Uncached RAG Pipeline</a:t>
                      </a:r>
                    </a:p>
                  </a:txBody>
                  <a:tcPr>
                    <a:solidFill>
                      <a:srgbClr val="F8FAFC"/>
                    </a:solidFill>
                  </a:tcPr>
                </a:tc>
                <a:tc>
                  <a:txBody>
                    <a:bodyPr/>
                    <a:lstStyle/>
                    <a:p>
                      <a:pPr>
                        <a:defRPr sz="1000">
                          <a:solidFill>
                            <a:srgbClr val="1A73E8"/>
                          </a:solidFill>
                        </a:defRPr>
                      </a:pPr>
                      <a:r>
                        <a:t>75% token discount &amp; lower TTFT latency</a:t>
                      </a:r>
                    </a:p>
                  </a:txBody>
                  <a:tcPr>
                    <a:solidFill>
                      <a:srgbClr val="F8FAFC"/>
                    </a:solidFill>
                  </a:tcPr>
                </a:tc>
              </a:tr>
              <a:tr h="627018">
                <a:tc>
                  <a:txBody>
                    <a:bodyPr/>
                    <a:lstStyle/>
                    <a:p>
                      <a:pPr>
                        <a:defRPr sz="1000">
                          <a:solidFill>
                            <a:srgbClr val="0F172A"/>
                          </a:solidFill>
                        </a:defRPr>
                      </a:pPr>
                      <a:r>
                        <a:t>Evaluation</a:t>
                      </a:r>
                    </a:p>
                  </a:txBody>
                  <a:tcPr>
                    <a:solidFill>
                      <a:srgbClr val="FFFFFF"/>
                    </a:solidFill>
                  </a:tcPr>
                </a:tc>
                <a:tc>
                  <a:txBody>
                    <a:bodyPr/>
                    <a:lstStyle/>
                    <a:p>
                      <a:pPr>
                        <a:defRPr sz="1000">
                          <a:solidFill>
                            <a:srgbClr val="0F172A"/>
                          </a:solidFill>
                        </a:defRPr>
                      </a:pPr>
                      <a:r>
                        <a:t>ADK Harness + LLM-as-Judge</a:t>
                      </a:r>
                    </a:p>
                  </a:txBody>
                  <a:tcPr>
                    <a:solidFill>
                      <a:srgbClr val="FFFFFF"/>
                    </a:solidFill>
                  </a:tcPr>
                </a:tc>
                <a:tc>
                  <a:txBody>
                    <a:bodyPr/>
                    <a:lstStyle/>
                    <a:p>
                      <a:pPr>
                        <a:defRPr sz="1000">
                          <a:solidFill>
                            <a:srgbClr val="64748B"/>
                          </a:solidFill>
                        </a:defRPr>
                      </a:pPr>
                      <a:r>
                        <a:t>Manual Prompt Testing</a:t>
                      </a:r>
                    </a:p>
                  </a:txBody>
                  <a:tcPr>
                    <a:solidFill>
                      <a:srgbClr val="FFFFFF"/>
                    </a:solidFill>
                  </a:tcPr>
                </a:tc>
                <a:tc>
                  <a:txBody>
                    <a:bodyPr/>
                    <a:lstStyle/>
                    <a:p>
                      <a:pPr>
                        <a:defRPr sz="1000">
                          <a:solidFill>
                            <a:srgbClr val="1A73E8"/>
                          </a:solidFill>
                        </a:defRPr>
                      </a:pPr>
                      <a:r>
                        <a:t>Automated regression lock on golden dataset</a:t>
                      </a:r>
                    </a:p>
                  </a:txBody>
                  <a:tcPr>
                    <a:solidFill>
                      <a:srgbClr val="FFFFFF"/>
                    </a:solidFill>
                  </a:tcPr>
                </a:tc>
              </a:tr>
            </a:tbl>
          </a:graphicData>
        </a:graphic>
      </p:graphicFrame>
      <p:sp>
        <p:nvSpPr>
          <p:cNvPr id="4" name="Rectangle 3"/>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1A73E8"/>
                </a:solidFill>
              </a:defRPr>
            </a:pPr>
            <a:r>
              <a:t>CONFIDENTIAL + PROPRIETARY | GOOGLE CLOUD</a:t>
            </a:r>
          </a:p>
          <a:p>
            <a:pPr>
              <a:spcAft>
                <a:spcPts val="200"/>
              </a:spcAft>
              <a:defRPr sz="2400" b="1">
                <a:solidFill>
                  <a:srgbClr val="0F172A"/>
                </a:solidFill>
              </a:defRPr>
            </a:pPr>
            <a:r>
              <a:t>Business Impact &amp; Strategic ROI Analysis</a:t>
            </a:r>
          </a:p>
          <a:p>
            <a:pPr>
              <a:defRPr sz="1300">
                <a:solidFill>
                  <a:srgbClr val="1A73E8"/>
                </a:solidFill>
              </a:defRPr>
            </a:pPr>
            <a:r>
              <a:t>Transforming Financial Analysis into a High-ROI Strategic Advantage</a:t>
            </a:r>
          </a:p>
        </p:txBody>
      </p:sp>
      <p:sp>
        <p:nvSpPr>
          <p:cNvPr id="3" name="Rounded Rectangle 2"/>
          <p:cNvSpPr/>
          <p:nvPr/>
        </p:nvSpPr>
        <p:spPr>
          <a:xfrm>
            <a:off x="731520" y="1645920"/>
            <a:ext cx="2468880" cy="2194560"/>
          </a:xfrm>
          <a:prstGeom prst="roundRect">
            <a:avLst/>
          </a:prstGeom>
          <a:solidFill>
            <a:srgbClr val="F8FAFC"/>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37360"/>
            <a:ext cx="2286000" cy="2011680"/>
          </a:xfrm>
          <a:prstGeom prst="rect">
            <a:avLst/>
          </a:prstGeom>
          <a:noFill/>
        </p:spPr>
        <p:txBody>
          <a:bodyPr wrap="square">
            <a:spAutoFit/>
          </a:bodyPr>
          <a:lstStyle/>
          <a:p>
            <a:pPr>
              <a:defRPr sz="3200" b="1">
                <a:solidFill>
                  <a:srgbClr val="34A853"/>
                </a:solidFill>
              </a:defRPr>
            </a:pPr>
            <a:r>
              <a:t>26x Net ROI</a:t>
            </a:r>
          </a:p>
          <a:p>
            <a:pPr>
              <a:defRPr sz="1400" b="1">
                <a:solidFill>
                  <a:srgbClr val="0F172A"/>
                </a:solidFill>
              </a:defRPr>
            </a:pPr>
            <a:r>
              <a:t>Financial Return</a:t>
            </a:r>
          </a:p>
          <a:p>
            <a:pPr>
              <a:defRPr sz="1000">
                <a:solidFill>
                  <a:srgbClr val="64748B"/>
                </a:solidFill>
              </a:defRPr>
            </a:pPr>
            <a:r>
              <a:t>26x Net Return on AI Investment</a:t>
            </a:r>
          </a:p>
        </p:txBody>
      </p:sp>
      <p:sp>
        <p:nvSpPr>
          <p:cNvPr id="5" name="Rounded Rectangle 4"/>
          <p:cNvSpPr/>
          <p:nvPr/>
        </p:nvSpPr>
        <p:spPr>
          <a:xfrm>
            <a:off x="3474720" y="1645920"/>
            <a:ext cx="2468880" cy="2194560"/>
          </a:xfrm>
          <a:prstGeom prst="roundRect">
            <a:avLst/>
          </a:prstGeom>
          <a:solidFill>
            <a:srgbClr val="F8FAFC"/>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737360"/>
            <a:ext cx="2286000" cy="2011680"/>
          </a:xfrm>
          <a:prstGeom prst="rect">
            <a:avLst/>
          </a:prstGeom>
          <a:noFill/>
        </p:spPr>
        <p:txBody>
          <a:bodyPr wrap="square">
            <a:spAutoFit/>
          </a:bodyPr>
          <a:lstStyle/>
          <a:p>
            <a:pPr>
              <a:defRPr sz="3200" b="1">
                <a:solidFill>
                  <a:srgbClr val="34A853"/>
                </a:solidFill>
              </a:defRPr>
            </a:pPr>
            <a:r>
              <a:t>$260,000</a:t>
            </a:r>
          </a:p>
          <a:p>
            <a:pPr>
              <a:defRPr sz="1400" b="1">
                <a:solidFill>
                  <a:srgbClr val="0F172A"/>
                </a:solidFill>
              </a:defRPr>
            </a:pPr>
            <a:r>
              <a:t>Annual Net Savings</a:t>
            </a:r>
          </a:p>
          <a:p>
            <a:pPr>
              <a:defRPr sz="1000">
                <a:solidFill>
                  <a:srgbClr val="64748B"/>
                </a:solidFill>
              </a:defRPr>
            </a:pPr>
            <a:r>
              <a:t>$270k manual labor reduced to $10k AI cost</a:t>
            </a:r>
          </a:p>
        </p:txBody>
      </p:sp>
      <p:sp>
        <p:nvSpPr>
          <p:cNvPr id="7" name="Rounded Rectangle 6"/>
          <p:cNvSpPr/>
          <p:nvPr/>
        </p:nvSpPr>
        <p:spPr>
          <a:xfrm>
            <a:off x="6217920" y="1645920"/>
            <a:ext cx="2468880" cy="2194560"/>
          </a:xfrm>
          <a:prstGeom prst="roundRect">
            <a:avLst/>
          </a:prstGeom>
          <a:solidFill>
            <a:srgbClr val="F8FAFC"/>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59" y="1737360"/>
            <a:ext cx="2286000" cy="2011680"/>
          </a:xfrm>
          <a:prstGeom prst="rect">
            <a:avLst/>
          </a:prstGeom>
          <a:noFill/>
        </p:spPr>
        <p:txBody>
          <a:bodyPr wrap="square">
            <a:spAutoFit/>
          </a:bodyPr>
          <a:lstStyle/>
          <a:p>
            <a:pPr>
              <a:defRPr sz="3200" b="1">
                <a:solidFill>
                  <a:srgbClr val="34A853"/>
                </a:solidFill>
              </a:defRPr>
            </a:pPr>
            <a:r>
              <a:t>2,900 Hours</a:t>
            </a:r>
          </a:p>
          <a:p>
            <a:pPr>
              <a:defRPr sz="1400" b="1">
                <a:solidFill>
                  <a:srgbClr val="0F172A"/>
                </a:solidFill>
              </a:defRPr>
            </a:pPr>
            <a:r>
              <a:t>Reclaimed Capacity</a:t>
            </a:r>
          </a:p>
          <a:p>
            <a:pPr>
              <a:defRPr sz="1000">
                <a:solidFill>
                  <a:srgbClr val="64748B"/>
                </a:solidFill>
              </a:defRPr>
            </a:pPr>
            <a:r>
              <a:t>1.5 FTE senior analysts unlocked for strategy</a:t>
            </a:r>
          </a:p>
        </p:txBody>
      </p:sp>
      <p:sp>
        <p:nvSpPr>
          <p:cNvPr id="9" name="Rounded Rectangle 8"/>
          <p:cNvSpPr/>
          <p:nvPr/>
        </p:nvSpPr>
        <p:spPr>
          <a:xfrm>
            <a:off x="8961120" y="1645920"/>
            <a:ext cx="2468880" cy="2194560"/>
          </a:xfrm>
          <a:prstGeom prst="roundRect">
            <a:avLst/>
          </a:prstGeom>
          <a:solidFill>
            <a:srgbClr val="F8FAFC"/>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0" y="1737360"/>
            <a:ext cx="2286000" cy="2011680"/>
          </a:xfrm>
          <a:prstGeom prst="rect">
            <a:avLst/>
          </a:prstGeom>
          <a:noFill/>
        </p:spPr>
        <p:txBody>
          <a:bodyPr wrap="square">
            <a:spAutoFit/>
          </a:bodyPr>
          <a:lstStyle/>
          <a:p>
            <a:pPr>
              <a:defRPr sz="3200" b="1">
                <a:solidFill>
                  <a:srgbClr val="34A853"/>
                </a:solidFill>
              </a:defRPr>
            </a:pPr>
            <a:r>
              <a:t>&lt; 2 Weeks</a:t>
            </a:r>
          </a:p>
          <a:p>
            <a:pPr>
              <a:defRPr sz="1400" b="1">
                <a:solidFill>
                  <a:srgbClr val="0F172A"/>
                </a:solidFill>
              </a:defRPr>
            </a:pPr>
            <a:r>
              <a:t>Payback Period</a:t>
            </a:r>
          </a:p>
          <a:p>
            <a:pPr>
              <a:defRPr sz="1000">
                <a:solidFill>
                  <a:srgbClr val="64748B"/>
                </a:solidFill>
              </a:defRPr>
            </a:pPr>
            <a:r>
              <a:t>Rapid time-to-value realization per deployment</a:t>
            </a:r>
          </a:p>
        </p:txBody>
      </p:sp>
      <p:sp>
        <p:nvSpPr>
          <p:cNvPr id="11" name="Rounded Rectangle 10"/>
          <p:cNvSpPr/>
          <p:nvPr/>
        </p:nvSpPr>
        <p:spPr>
          <a:xfrm>
            <a:off x="731520" y="4114800"/>
            <a:ext cx="10728655" cy="2011680"/>
          </a:xfrm>
          <a:prstGeom prst="roundRect">
            <a:avLst/>
          </a:prstGeom>
          <a:solidFill>
            <a:srgbClr val="F8FAFC"/>
          </a:solidFill>
          <a:ln w="1905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97680"/>
            <a:ext cx="10362895" cy="457200"/>
          </a:xfrm>
          <a:prstGeom prst="rect">
            <a:avLst/>
          </a:prstGeom>
          <a:noFill/>
        </p:spPr>
        <p:txBody>
          <a:bodyPr wrap="square">
            <a:spAutoFit/>
          </a:bodyPr>
          <a:lstStyle/>
          <a:p>
            <a:pPr>
              <a:defRPr sz="1600" b="1">
                <a:solidFill>
                  <a:srgbClr val="0F172A"/>
                </a:solidFill>
              </a:defRPr>
            </a:pPr>
            <a:r>
              <a:t>Executive Takeaway</a:t>
            </a:r>
          </a:p>
        </p:txBody>
      </p:sp>
      <p:sp>
        <p:nvSpPr>
          <p:cNvPr id="13" name="TextBox 12"/>
          <p:cNvSpPr txBox="1"/>
          <p:nvPr/>
        </p:nvSpPr>
        <p:spPr>
          <a:xfrm>
            <a:off x="914400" y="4572000"/>
            <a:ext cx="10332720" cy="1371600"/>
          </a:xfrm>
          <a:prstGeom prst="rect">
            <a:avLst/>
          </a:prstGeom>
          <a:noFill/>
        </p:spPr>
        <p:txBody>
          <a:bodyPr wrap="square" lIns="0" tIns="0" rIns="0" bIns="0">
            <a:spAutoFit/>
          </a:bodyPr>
          <a:lstStyle/>
          <a:p>
            <a:pPr>
              <a:spcAft>
                <a:spcPts val="600"/>
              </a:spcAft>
              <a:defRPr sz="1200">
                <a:solidFill>
                  <a:srgbClr val="0F172A"/>
                </a:solidFill>
              </a:defRPr>
            </a:pPr>
            <a:r>
              <a:t>• Replaces a $270,000 manual document processing bottleneck with a 100% mathematically precise agentic solution</a:t>
            </a:r>
          </a:p>
          <a:p>
            <a:pPr>
              <a:spcAft>
                <a:spcPts val="600"/>
              </a:spcAft>
              <a:defRPr sz="1200">
                <a:solidFill>
                  <a:srgbClr val="0F172A"/>
                </a:solidFill>
              </a:defRPr>
            </a:pPr>
            <a:r>
              <a:t>• Google ADK orchestration, sandboxed Python math, &amp; Vertex AI Context Caching deliver enterprise reliability</a:t>
            </a:r>
          </a:p>
          <a:p>
            <a:pPr>
              <a:spcAft>
                <a:spcPts val="600"/>
              </a:spcAft>
              <a:defRPr sz="1200">
                <a:solidFill>
                  <a:srgbClr val="0F172A"/>
                </a:solidFill>
              </a:defRPr>
            </a:pPr>
            <a:r>
              <a:t>• Ready for immediate production deployment across Financial Services Industry (FSI) portfolios</a:t>
            </a:r>
          </a:p>
        </p:txBody>
      </p:sp>
      <p:sp>
        <p:nvSpPr>
          <p:cNvPr id="14" name="Rectangle 13"/>
          <p:cNvSpPr/>
          <p:nvPr/>
        </p:nvSpPr>
        <p:spPr>
          <a:xfrm>
            <a:off x="0" y="6720840"/>
            <a:ext cx="3047923" cy="13716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64748B"/>
                </a:solidFill>
              </a:defRPr>
            </a:pPr>
            <a:r>
              <a:t>Confidential + Proprietary | Google Cloud Forward Deployed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